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UpzwqzD372X/mp5VdvwPM2wFj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2b2e1e51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82b2e1e51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382b2e1e51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37852349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b37852349f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b37852349f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5183188" y="987425"/>
            <a:ext cx="6172200" cy="4873625"/>
          </a:xfrm>
          <a:prstGeom prst="rect">
            <a:avLst/>
          </a:prstGeom>
          <a:noFill/>
          <a:ln>
            <a:noFill/>
          </a:ln>
        </p:spPr>
      </p:sp>
      <p:sp>
        <p:nvSpPr>
          <p:cNvPr id="68" name="Google Shape;6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hyperlink" Target="https://drive.google.com/drive/folders/1w27Q5C_5vtwclSMiu6CsP3b-4FnHndOt?usp=drive_lin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github.com/tonmoy-cpu/Scraply-development" TargetMode="External"/><Relationship Id="rId4" Type="http://schemas.openxmlformats.org/officeDocument/2006/relationships/hyperlink" Target="https://github.com/Utkarsh24072003" TargetMode="External"/><Relationship Id="rId5" Type="http://schemas.openxmlformats.org/officeDocument/2006/relationships/hyperlink" Target="https://github.com/SarvagyaPratap" TargetMode="External"/><Relationship Id="rId6" Type="http://schemas.openxmlformats.org/officeDocument/2006/relationships/hyperlink" Target="https://github.com/sajalmittal12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421364" y="1726162"/>
            <a:ext cx="9144000" cy="1875875"/>
          </a:xfrm>
          <a:prstGeom prst="rect">
            <a:avLst/>
          </a:prstGeom>
          <a:noFill/>
          <a:ln>
            <a:noFill/>
          </a:ln>
        </p:spPr>
        <p:txBody>
          <a:bodyPr anchorCtr="0" anchor="b" bIns="45700" lIns="91425" spcFirstLastPara="1" rIns="91425" wrap="square" tIns="45700">
            <a:noAutofit/>
          </a:bodyPr>
          <a:lstStyle/>
          <a:p>
            <a:pPr indent="0" lvl="0" marL="0" rtl="0" algn="ctr">
              <a:lnSpc>
                <a:spcPct val="107000"/>
              </a:lnSpc>
              <a:spcBef>
                <a:spcPts val="0"/>
              </a:spcBef>
              <a:spcAft>
                <a:spcPts val="0"/>
              </a:spcAft>
              <a:buClr>
                <a:schemeClr val="dk1"/>
              </a:buClr>
              <a:buSzPts val="1800"/>
              <a:buFont typeface="Calibri"/>
              <a:buNone/>
            </a:pP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br>
              <a:rPr lang="en-IN" sz="1800"/>
            </a:br>
            <a:r>
              <a:rPr b="1" lang="en-IN" sz="1800">
                <a:latin typeface="Bookman Old Style"/>
                <a:ea typeface="Bookman Old Style"/>
                <a:cs typeface="Bookman Old Style"/>
                <a:sym typeface="Bookman Old Style"/>
              </a:rPr>
              <a:t>DEPARTMENT OF COMPUTER SCIENCE</a:t>
            </a:r>
            <a:br>
              <a:rPr lang="en-IN" sz="1800"/>
            </a:br>
            <a:br>
              <a:rPr lang="en-IN" sz="1800">
                <a:latin typeface="Calibri"/>
                <a:ea typeface="Calibri"/>
                <a:cs typeface="Calibri"/>
                <a:sym typeface="Calibri"/>
              </a:rPr>
            </a:br>
            <a:r>
              <a:rPr b="1" lang="en-IN" sz="1800">
                <a:solidFill>
                  <a:srgbClr val="000000"/>
                </a:solidFill>
                <a:latin typeface="Times New Roman"/>
                <a:ea typeface="Times New Roman"/>
                <a:cs typeface="Times New Roman"/>
                <a:sym typeface="Times New Roman"/>
              </a:rPr>
              <a:t> </a:t>
            </a:r>
            <a:br>
              <a:rPr lang="en-IN" sz="1800">
                <a:latin typeface="Calibri"/>
                <a:ea typeface="Calibri"/>
                <a:cs typeface="Calibri"/>
                <a:sym typeface="Calibri"/>
              </a:rPr>
            </a:br>
            <a:r>
              <a:rPr b="1" lang="en-IN" sz="3600"/>
              <a:t> Project Presentation (BCS 554)</a:t>
            </a:r>
            <a:br>
              <a:rPr lang="en-IN" sz="3600"/>
            </a:br>
            <a:r>
              <a:rPr b="1" lang="en-IN" sz="3600"/>
              <a:t>E Waste Facility Locator</a:t>
            </a:r>
            <a:endParaRPr/>
          </a:p>
        </p:txBody>
      </p:sp>
      <p:sp>
        <p:nvSpPr>
          <p:cNvPr id="89" name="Google Shape;89;p1"/>
          <p:cNvSpPr txBox="1"/>
          <p:nvPr>
            <p:ph idx="1" type="subTitle"/>
          </p:nvPr>
        </p:nvSpPr>
        <p:spPr>
          <a:xfrm>
            <a:off x="1524000" y="3900325"/>
            <a:ext cx="9144000" cy="2001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37304"/>
              <a:buNone/>
            </a:pPr>
            <a:r>
              <a:rPr b="1" lang="en-IN" sz="6433"/>
              <a:t>Guide : </a:t>
            </a:r>
            <a:r>
              <a:rPr lang="en-IN" sz="6433"/>
              <a:t>Ms. Shivani(Assistant professor)</a:t>
            </a:r>
            <a:endParaRPr sz="6433"/>
          </a:p>
          <a:p>
            <a:pPr indent="0" lvl="0" marL="0" rtl="0" algn="l">
              <a:lnSpc>
                <a:spcPct val="90000"/>
              </a:lnSpc>
              <a:spcBef>
                <a:spcPts val="1000"/>
              </a:spcBef>
              <a:spcAft>
                <a:spcPts val="0"/>
              </a:spcAft>
              <a:buClr>
                <a:schemeClr val="dk1"/>
              </a:buClr>
              <a:buSzPct val="37304"/>
              <a:buNone/>
            </a:pPr>
            <a:r>
              <a:rPr b="1" lang="en-IN" sz="6433"/>
              <a:t>Project Members : </a:t>
            </a:r>
            <a:endParaRPr b="1" sz="6433"/>
          </a:p>
          <a:p>
            <a:pPr indent="0" lvl="0" marL="0" rtl="0" algn="l">
              <a:lnSpc>
                <a:spcPct val="90000"/>
              </a:lnSpc>
              <a:spcBef>
                <a:spcPts val="1000"/>
              </a:spcBef>
              <a:spcAft>
                <a:spcPts val="0"/>
              </a:spcAft>
              <a:buClr>
                <a:schemeClr val="dk1"/>
              </a:buClr>
              <a:buSzPct val="37304"/>
              <a:buNone/>
            </a:pPr>
            <a:r>
              <a:rPr lang="en-IN" sz="6433"/>
              <a:t>1.Sajal Mittal(2200290120141)</a:t>
            </a:r>
            <a:endParaRPr sz="6433"/>
          </a:p>
          <a:p>
            <a:pPr indent="0" lvl="0" marL="0" rtl="0" algn="l">
              <a:lnSpc>
                <a:spcPct val="90000"/>
              </a:lnSpc>
              <a:spcBef>
                <a:spcPts val="1000"/>
              </a:spcBef>
              <a:spcAft>
                <a:spcPts val="0"/>
              </a:spcAft>
              <a:buClr>
                <a:schemeClr val="dk1"/>
              </a:buClr>
              <a:buSzPct val="37304"/>
              <a:buNone/>
            </a:pPr>
            <a:r>
              <a:rPr lang="en-IN" sz="6433"/>
              <a:t>2.Sarvagya Pratap Singh(2200290120149)</a:t>
            </a:r>
            <a:endParaRPr sz="6433"/>
          </a:p>
          <a:p>
            <a:pPr indent="0" lvl="0" marL="0" rtl="0" algn="l">
              <a:lnSpc>
                <a:spcPct val="90000"/>
              </a:lnSpc>
              <a:spcBef>
                <a:spcPts val="1000"/>
              </a:spcBef>
              <a:spcAft>
                <a:spcPts val="0"/>
              </a:spcAft>
              <a:buClr>
                <a:schemeClr val="dk1"/>
              </a:buClr>
              <a:buSzPct val="37304"/>
              <a:buNone/>
            </a:pPr>
            <a:r>
              <a:rPr lang="en-IN" sz="6433"/>
              <a:t>3.Tonmoy Mukherjee(2200290120181)                                                                           Group Id :PCS26-33</a:t>
            </a:r>
            <a:endParaRPr sz="6433"/>
          </a:p>
          <a:p>
            <a:pPr indent="0" lvl="0" marL="0" rtl="0" algn="l">
              <a:lnSpc>
                <a:spcPct val="90000"/>
              </a:lnSpc>
              <a:spcBef>
                <a:spcPts val="1000"/>
              </a:spcBef>
              <a:spcAft>
                <a:spcPts val="0"/>
              </a:spcAft>
              <a:buClr>
                <a:schemeClr val="dk1"/>
              </a:buClr>
              <a:buSzPct val="37304"/>
              <a:buNone/>
            </a:pPr>
            <a:r>
              <a:rPr lang="en-IN" sz="6433"/>
              <a:t>4.Utkarsh Pratap Singh(2200290120184)                                                                          Project Id : SIH1392</a:t>
            </a:r>
            <a:endParaRPr sz="6433"/>
          </a:p>
          <a:p>
            <a:pPr indent="0" lvl="0" marL="0" rtl="0" algn="l">
              <a:lnSpc>
                <a:spcPct val="90000"/>
              </a:lnSpc>
              <a:spcBef>
                <a:spcPts val="1000"/>
              </a:spcBef>
              <a:spcAft>
                <a:spcPts val="0"/>
              </a:spcAft>
              <a:buClr>
                <a:schemeClr val="dk1"/>
              </a:buClr>
              <a:buSzPct val="37304"/>
              <a:buNone/>
            </a:pPr>
            <a:r>
              <a:rPr lang="en-IN" sz="6433"/>
              <a:t>                                       </a:t>
            </a:r>
            <a:endParaRPr sz="6433"/>
          </a:p>
          <a:p>
            <a:pPr indent="0" lvl="0" marL="0" rtl="0" algn="ctr">
              <a:lnSpc>
                <a:spcPct val="90000"/>
              </a:lnSpc>
              <a:spcBef>
                <a:spcPts val="1000"/>
              </a:spcBef>
              <a:spcAft>
                <a:spcPts val="0"/>
              </a:spcAft>
              <a:buClr>
                <a:schemeClr val="dk1"/>
              </a:buClr>
              <a:buSzPct val="100000"/>
              <a:buNone/>
            </a:pPr>
            <a:r>
              <a:t/>
            </a:r>
            <a:endParaRPr/>
          </a:p>
        </p:txBody>
      </p:sp>
      <p:sp>
        <p:nvSpPr>
          <p:cNvPr id="90" name="Google Shape;90;p1"/>
          <p:cNvSpPr/>
          <p:nvPr/>
        </p:nvSpPr>
        <p:spPr>
          <a:xfrm>
            <a:off x="0" y="0"/>
            <a:ext cx="12192000" cy="457200"/>
          </a:xfrm>
          <a:prstGeom prst="rect">
            <a:avLst/>
          </a:prstGeom>
          <a:noFill/>
          <a:ln>
            <a:noFill/>
          </a:ln>
        </p:spPr>
        <p:txBody>
          <a:bodyPr anchorCtr="0" anchor="ctr" bIns="0" lIns="126950" spcFirstLastPara="1" rIns="91425" wrap="square" tIns="222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92" name="Google Shape;92;p1"/>
          <p:cNvPicPr preferRelativeResize="0"/>
          <p:nvPr/>
        </p:nvPicPr>
        <p:blipFill rotWithShape="1">
          <a:blip r:embed="rId3">
            <a:alphaModFix/>
          </a:blip>
          <a:srcRect b="0" l="0" r="0" t="0"/>
          <a:stretch/>
        </p:blipFill>
        <p:spPr>
          <a:xfrm>
            <a:off x="475862" y="404332"/>
            <a:ext cx="11112758" cy="10235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0" y="0"/>
            <a:ext cx="12192000" cy="457200"/>
          </a:xfrm>
          <a:prstGeom prst="rect">
            <a:avLst/>
          </a:prstGeom>
          <a:noFill/>
          <a:ln>
            <a:noFill/>
          </a:ln>
        </p:spPr>
        <p:txBody>
          <a:bodyPr anchorCtr="0" anchor="ctr" bIns="0" lIns="126950" spcFirstLastPara="1" rIns="91425" wrap="square" tIns="222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99" name="Google Shape;99;p2"/>
          <p:cNvPicPr preferRelativeResize="0"/>
          <p:nvPr/>
        </p:nvPicPr>
        <p:blipFill rotWithShape="1">
          <a:blip r:embed="rId3">
            <a:alphaModFix/>
          </a:blip>
          <a:srcRect b="0" l="0" r="0" t="0"/>
          <a:stretch/>
        </p:blipFill>
        <p:spPr>
          <a:xfrm>
            <a:off x="475862" y="404332"/>
            <a:ext cx="11112758" cy="1023541"/>
          </a:xfrm>
          <a:prstGeom prst="rect">
            <a:avLst/>
          </a:prstGeom>
          <a:noFill/>
          <a:ln>
            <a:noFill/>
          </a:ln>
        </p:spPr>
      </p:pic>
      <p:sp>
        <p:nvSpPr>
          <p:cNvPr id="100" name="Google Shape;100;p2"/>
          <p:cNvSpPr txBox="1"/>
          <p:nvPr/>
        </p:nvSpPr>
        <p:spPr>
          <a:xfrm>
            <a:off x="622819" y="1742105"/>
            <a:ext cx="60975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Calibri"/>
                <a:ea typeface="Calibri"/>
                <a:cs typeface="Calibri"/>
                <a:sym typeface="Calibri"/>
              </a:rPr>
              <a:t>Table of content</a:t>
            </a:r>
            <a:endParaRPr b="1" i="0" sz="3000" u="none" cap="none" strike="noStrike">
              <a:solidFill>
                <a:srgbClr val="000000"/>
              </a:solidFill>
              <a:latin typeface="Arial"/>
              <a:ea typeface="Arial"/>
              <a:cs typeface="Arial"/>
              <a:sym typeface="Arial"/>
            </a:endParaRPr>
          </a:p>
        </p:txBody>
      </p:sp>
      <p:sp>
        <p:nvSpPr>
          <p:cNvPr id="101" name="Google Shape;101;p2"/>
          <p:cNvSpPr txBox="1"/>
          <p:nvPr/>
        </p:nvSpPr>
        <p:spPr>
          <a:xfrm>
            <a:off x="622825" y="2370925"/>
            <a:ext cx="7014900" cy="391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IN" sz="2200" u="none" cap="none" strike="noStrike">
                <a:solidFill>
                  <a:schemeClr val="dk1"/>
                </a:solidFill>
                <a:latin typeface="Calibri"/>
                <a:ea typeface="Calibri"/>
                <a:cs typeface="Calibri"/>
                <a:sym typeface="Calibri"/>
              </a:rPr>
              <a:t>1.TITLE PAGE</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2.PROBLEM STATEMENT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3.OBJECTIVES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4.TECHNOLOGY USED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5.LITERATURE SURVEY</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6.SDGs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7.PROJECT SCREENSHOTS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8.PROJECT STATUS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9.RESEARCH PAPER STATUS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IN" sz="2200" u="none" cap="none" strike="noStrike">
                <a:solidFill>
                  <a:schemeClr val="dk1"/>
                </a:solidFill>
                <a:latin typeface="Calibri"/>
                <a:ea typeface="Calibri"/>
                <a:cs typeface="Calibri"/>
                <a:sym typeface="Calibri"/>
              </a:rPr>
              <a:t>10.REFERENCES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p3"/>
          <p:cNvSpPr txBox="1"/>
          <p:nvPr>
            <p:ph type="title"/>
          </p:nvPr>
        </p:nvSpPr>
        <p:spPr>
          <a:xfrm>
            <a:off x="526102" y="1544125"/>
            <a:ext cx="5225400" cy="18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IN" sz="4000"/>
              <a:t>Problem Statement</a:t>
            </a:r>
            <a:endParaRPr/>
          </a:p>
        </p:txBody>
      </p:sp>
      <p:pic>
        <p:nvPicPr>
          <p:cNvPr id="108" name="Google Shape;108;p3"/>
          <p:cNvPicPr preferRelativeResize="0"/>
          <p:nvPr/>
        </p:nvPicPr>
        <p:blipFill rotWithShape="1">
          <a:blip r:embed="rId3">
            <a:alphaModFix/>
          </a:blip>
          <a:srcRect b="0" l="0" r="0" t="0"/>
          <a:stretch/>
        </p:blipFill>
        <p:spPr>
          <a:xfrm>
            <a:off x="526110" y="402304"/>
            <a:ext cx="11139778" cy="1141828"/>
          </a:xfrm>
          <a:prstGeom prst="rect">
            <a:avLst/>
          </a:prstGeom>
          <a:noFill/>
          <a:ln>
            <a:noFill/>
          </a:ln>
        </p:spPr>
      </p:pic>
      <p:sp>
        <p:nvSpPr>
          <p:cNvPr id="109" name="Google Shape;109;p3"/>
          <p:cNvSpPr txBox="1"/>
          <p:nvPr>
            <p:ph idx="1" type="body"/>
          </p:nvPr>
        </p:nvSpPr>
        <p:spPr>
          <a:xfrm>
            <a:off x="1863600" y="2352575"/>
            <a:ext cx="8464800" cy="3245100"/>
          </a:xfrm>
          <a:prstGeom prst="rect">
            <a:avLst/>
          </a:prstGeom>
          <a:noFill/>
          <a:ln>
            <a:noFill/>
          </a:ln>
        </p:spPr>
        <p:txBody>
          <a:bodyPr anchorCtr="0" anchor="t" bIns="45700" lIns="91425" spcFirstLastPara="1" rIns="91425" wrap="square" tIns="45700">
            <a:normAutofit/>
          </a:bodyPr>
          <a:lstStyle/>
          <a:p>
            <a:pPr indent="0" lvl="0" marL="228600" rtl="0" algn="just">
              <a:lnSpc>
                <a:spcPct val="90000"/>
              </a:lnSpc>
              <a:spcBef>
                <a:spcPts val="0"/>
              </a:spcBef>
              <a:spcAft>
                <a:spcPts val="0"/>
              </a:spcAft>
              <a:buSzPts val="1800"/>
              <a:buNone/>
            </a:pPr>
            <a:r>
              <a:rPr lang="en-IN" sz="2200"/>
              <a:t>Website that tells you the location of the nearest e-waste collection and recycling facility. Offers educational pop-ups on the harmful components of your e-waste and their effects on the environment and human health if not disposed correctly. There could be an option to input the model of your old device and earn credit points relative to the amount of precious metals recovered from the device if disposed correctly.</a:t>
            </a:r>
            <a:endParaRPr sz="2200"/>
          </a:p>
          <a:p>
            <a:pPr indent="0" lvl="0" marL="228600" rtl="0" algn="just">
              <a:lnSpc>
                <a:spcPct val="90000"/>
              </a:lnSpc>
              <a:spcBef>
                <a:spcPts val="0"/>
              </a:spcBef>
              <a:spcAft>
                <a:spcPts val="0"/>
              </a:spcAft>
              <a:buSzPts val="1800"/>
              <a:buNone/>
            </a:pPr>
            <a:r>
              <a:t/>
            </a:r>
            <a:endParaRPr sz="2000"/>
          </a:p>
          <a:p>
            <a:pPr indent="0" lvl="0" marL="228600" rtl="0" algn="just">
              <a:lnSpc>
                <a:spcPct val="90000"/>
              </a:lnSpc>
              <a:spcBef>
                <a:spcPts val="0"/>
              </a:spcBef>
              <a:spcAft>
                <a:spcPts val="0"/>
              </a:spcAft>
              <a:buSzPts val="1800"/>
              <a:buNone/>
            </a:pPr>
            <a:r>
              <a:t/>
            </a:r>
            <a:endParaRPr sz="2000"/>
          </a:p>
        </p:txBody>
      </p:sp>
      <p:sp>
        <p:nvSpPr>
          <p:cNvPr id="110" name="Google Shape;110;p3"/>
          <p:cNvSpPr/>
          <p:nvPr/>
        </p:nvSpPr>
        <p:spPr>
          <a:xfrm flipH="1">
            <a:off x="0" y="6406116"/>
            <a:ext cx="12191998" cy="461774"/>
          </a:xfrm>
          <a:prstGeom prst="rect">
            <a:avLst/>
          </a:prstGeom>
          <a:gradFill>
            <a:gsLst>
              <a:gs pos="0">
                <a:srgbClr val="000000"/>
              </a:gs>
              <a:gs pos="100000">
                <a:srgbClr val="2F5496"/>
              </a:gs>
            </a:gsLst>
            <a:lin ang="15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3"/>
          <p:cNvSpPr/>
          <p:nvPr/>
        </p:nvSpPr>
        <p:spPr>
          <a:xfrm flipH="1">
            <a:off x="8115300" y="6406115"/>
            <a:ext cx="4076698" cy="464399"/>
          </a:xfrm>
          <a:prstGeom prst="rect">
            <a:avLst/>
          </a:prstGeom>
          <a:gradFill>
            <a:gsLst>
              <a:gs pos="0">
                <a:srgbClr val="000000">
                  <a:alpha val="30196"/>
                </a:srgbClr>
              </a:gs>
              <a:gs pos="19000">
                <a:srgbClr val="000000">
                  <a:alpha val="30196"/>
                </a:srgbClr>
              </a:gs>
              <a:gs pos="99000">
                <a:schemeClr val="accent1"/>
              </a:gs>
              <a:gs pos="100000">
                <a:schemeClr val="accent1"/>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3"/>
          <p:cNvSpPr txBox="1"/>
          <p:nvPr>
            <p:ph idx="12" type="sldNum"/>
          </p:nvPr>
        </p:nvSpPr>
        <p:spPr>
          <a:xfrm>
            <a:off x="11704320" y="6451877"/>
            <a:ext cx="448056"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100"/>
              <a:buNone/>
            </a:pPr>
            <a:fld id="{00000000-1234-1234-1234-123412341234}" type="slidenum">
              <a:rPr lang="en-IN" sz="1100">
                <a:solidFill>
                  <a:srgbClr val="FFFFFF"/>
                </a:solidFill>
              </a:rPr>
              <a:t>‹#›</a:t>
            </a:fld>
            <a:endParaRPr sz="11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4"/>
          <p:cNvSpPr txBox="1"/>
          <p:nvPr>
            <p:ph type="title"/>
          </p:nvPr>
        </p:nvSpPr>
        <p:spPr>
          <a:xfrm>
            <a:off x="481625" y="843200"/>
            <a:ext cx="3981900" cy="2169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800"/>
              <a:t>Objectives</a:t>
            </a:r>
            <a:endParaRPr sz="3800"/>
          </a:p>
        </p:txBody>
      </p:sp>
      <p:sp>
        <p:nvSpPr>
          <p:cNvPr id="119" name="Google Shape;119;p4"/>
          <p:cNvSpPr/>
          <p:nvPr/>
        </p:nvSpPr>
        <p:spPr>
          <a:xfrm rot="6269068">
            <a:off x="8717845" y="3339275"/>
            <a:ext cx="2987899" cy="298789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20" name="Google Shape;120;p4"/>
          <p:cNvPicPr preferRelativeResize="0"/>
          <p:nvPr/>
        </p:nvPicPr>
        <p:blipFill rotWithShape="1">
          <a:blip r:embed="rId3">
            <a:alphaModFix/>
          </a:blip>
          <a:srcRect b="0" l="0" r="0" t="0"/>
          <a:stretch/>
        </p:blipFill>
        <p:spPr>
          <a:xfrm>
            <a:off x="481628" y="473840"/>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121" name="Google Shape;121;p4"/>
          <p:cNvSpPr txBox="1"/>
          <p:nvPr>
            <p:ph idx="1" type="body"/>
          </p:nvPr>
        </p:nvSpPr>
        <p:spPr>
          <a:xfrm>
            <a:off x="3198608" y="1590268"/>
            <a:ext cx="6383100" cy="22164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1000"/>
              </a:spcBef>
              <a:spcAft>
                <a:spcPts val="0"/>
              </a:spcAft>
              <a:buSzPts val="1800"/>
              <a:buNone/>
            </a:pPr>
            <a:r>
              <a:t/>
            </a:r>
            <a:endParaRPr sz="1800"/>
          </a:p>
          <a:p>
            <a:pPr indent="-228600" lvl="0" marL="228600" rtl="0" algn="just">
              <a:lnSpc>
                <a:spcPct val="90000"/>
              </a:lnSpc>
              <a:spcBef>
                <a:spcPts val="1000"/>
              </a:spcBef>
              <a:spcAft>
                <a:spcPts val="0"/>
              </a:spcAft>
              <a:buSzPts val="1800"/>
              <a:buChar char="•"/>
            </a:pPr>
            <a:r>
              <a:rPr lang="en-IN" sz="1800"/>
              <a:t> </a:t>
            </a:r>
            <a:r>
              <a:rPr b="1" lang="en-IN" sz="1800"/>
              <a:t>Locate Recycling Centers &amp; Track Disposal</a:t>
            </a:r>
            <a:r>
              <a:rPr lang="en-IN" sz="1800"/>
              <a:t>: Help users find nearby e-waste recycling facilities and track their recycling efforts, showing environmental benefits.</a:t>
            </a:r>
            <a:endParaRPr sz="1800"/>
          </a:p>
          <a:p>
            <a:pPr indent="-228600" lvl="0" marL="228600" rtl="0" algn="just">
              <a:lnSpc>
                <a:spcPct val="90000"/>
              </a:lnSpc>
              <a:spcBef>
                <a:spcPts val="1000"/>
              </a:spcBef>
              <a:spcAft>
                <a:spcPts val="0"/>
              </a:spcAft>
              <a:buSzPts val="1800"/>
              <a:buChar char="•"/>
            </a:pPr>
            <a:r>
              <a:rPr b="1" lang="en-IN" sz="1800"/>
              <a:t> Educational Content &amp; PopUps</a:t>
            </a:r>
            <a:r>
              <a:rPr lang="en-IN" sz="1800"/>
              <a:t>: Inform users about harmful e-waste components, their impact, and provide guides on proper disposal methods.</a:t>
            </a:r>
            <a:endParaRPr sz="1800"/>
          </a:p>
          <a:p>
            <a:pPr indent="-228600" lvl="0" marL="228600" rtl="0" algn="just">
              <a:lnSpc>
                <a:spcPct val="90000"/>
              </a:lnSpc>
              <a:spcBef>
                <a:spcPts val="1000"/>
              </a:spcBef>
              <a:spcAft>
                <a:spcPts val="0"/>
              </a:spcAft>
              <a:buSzPts val="1800"/>
              <a:buChar char="•"/>
            </a:pPr>
            <a:r>
              <a:rPr lang="en-IN" sz="1800"/>
              <a:t> </a:t>
            </a:r>
            <a:r>
              <a:rPr b="1" lang="en-IN" sz="1800"/>
              <a:t>Credit &amp; Reward System</a:t>
            </a:r>
            <a:r>
              <a:rPr lang="en-IN" sz="1800"/>
              <a:t>: Allow users to earn points for recycling devices based on recoverable precious metals and introduce gamification to reward consistent efforts.</a:t>
            </a:r>
            <a:endParaRPr sz="1800"/>
          </a:p>
          <a:p>
            <a:pPr indent="-228600" lvl="0" marL="228600" rtl="0" algn="just">
              <a:lnSpc>
                <a:spcPct val="90000"/>
              </a:lnSpc>
              <a:spcBef>
                <a:spcPts val="1000"/>
              </a:spcBef>
              <a:spcAft>
                <a:spcPts val="0"/>
              </a:spcAft>
              <a:buSzPts val="1800"/>
              <a:buChar char="•"/>
            </a:pPr>
            <a:r>
              <a:rPr lang="en-IN" sz="1800"/>
              <a:t> </a:t>
            </a:r>
            <a:r>
              <a:rPr b="1" lang="en-IN" sz="1800"/>
              <a:t>Device Condition &amp; Resell Options</a:t>
            </a:r>
            <a:r>
              <a:rPr lang="en-IN" sz="1800"/>
              <a:t>: Let users assess their device’s condition to choose between repair, resale, donation, or recycling.</a:t>
            </a:r>
            <a:endParaRPr sz="1800"/>
          </a:p>
          <a:p>
            <a:pPr indent="-228600" lvl="0" marL="228600" rtl="0" algn="just">
              <a:lnSpc>
                <a:spcPct val="90000"/>
              </a:lnSpc>
              <a:spcBef>
                <a:spcPts val="1000"/>
              </a:spcBef>
              <a:spcAft>
                <a:spcPts val="0"/>
              </a:spcAft>
              <a:buSzPts val="1800"/>
              <a:buChar char="•"/>
            </a:pPr>
            <a:r>
              <a:rPr b="1" lang="en-IN" sz="1800"/>
              <a:t>Global Awareness &amp; Regulations</a:t>
            </a:r>
            <a:r>
              <a:rPr lang="en-IN" sz="1800"/>
              <a:t>: Highlight global e-waste trends, connect with certified recycling partners, and share government guidelines for proper disposal.</a:t>
            </a:r>
            <a:endParaRPr sz="1800"/>
          </a:p>
          <a:p>
            <a:pPr indent="0" lvl="0" marL="228600" rtl="0" algn="just">
              <a:lnSpc>
                <a:spcPct val="90000"/>
              </a:lnSpc>
              <a:spcBef>
                <a:spcPts val="1000"/>
              </a:spcBef>
              <a:spcAft>
                <a:spcPts val="0"/>
              </a:spcAft>
              <a:buSzPts val="1800"/>
              <a:buNone/>
            </a:pPr>
            <a:r>
              <a:t/>
            </a:r>
            <a:endParaRPr sz="1800"/>
          </a:p>
        </p:txBody>
      </p:sp>
      <p:sp>
        <p:nvSpPr>
          <p:cNvPr id="122" name="Google Shape;12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5"/>
          <p:cNvSpPr/>
          <p:nvPr/>
        </p:nvSpPr>
        <p:spPr>
          <a:xfrm>
            <a:off x="0" y="-4100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 name="Google Shape;128;p5"/>
          <p:cNvSpPr txBox="1"/>
          <p:nvPr>
            <p:ph type="title"/>
          </p:nvPr>
        </p:nvSpPr>
        <p:spPr>
          <a:xfrm>
            <a:off x="225351" y="1835950"/>
            <a:ext cx="4423500" cy="1800300"/>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chemeClr val="dk1"/>
              </a:buClr>
              <a:buSzPts val="4000"/>
              <a:buFont typeface="Calibri"/>
              <a:buNone/>
            </a:pPr>
            <a:r>
              <a:rPr lang="en-IN" sz="4000"/>
              <a:t>Technology Used	</a:t>
            </a:r>
            <a:endParaRPr/>
          </a:p>
        </p:txBody>
      </p:sp>
      <p:pic>
        <p:nvPicPr>
          <p:cNvPr id="129" name="Google Shape;129;p5"/>
          <p:cNvPicPr preferRelativeResize="0"/>
          <p:nvPr/>
        </p:nvPicPr>
        <p:blipFill rotWithShape="1">
          <a:blip r:embed="rId3">
            <a:alphaModFix/>
          </a:blip>
          <a:srcRect b="0" l="0" r="0" t="0"/>
          <a:stretch/>
        </p:blipFill>
        <p:spPr>
          <a:xfrm>
            <a:off x="526110" y="328073"/>
            <a:ext cx="11139778" cy="1141828"/>
          </a:xfrm>
          <a:prstGeom prst="rect">
            <a:avLst/>
          </a:prstGeom>
          <a:noFill/>
          <a:ln>
            <a:noFill/>
          </a:ln>
        </p:spPr>
      </p:pic>
      <p:sp>
        <p:nvSpPr>
          <p:cNvPr id="130" name="Google Shape;130;p5"/>
          <p:cNvSpPr txBox="1"/>
          <p:nvPr>
            <p:ph idx="1" type="body"/>
          </p:nvPr>
        </p:nvSpPr>
        <p:spPr>
          <a:xfrm>
            <a:off x="777576" y="2590975"/>
            <a:ext cx="6834900" cy="1800300"/>
          </a:xfrm>
          <a:prstGeom prst="rect">
            <a:avLst/>
          </a:prstGeom>
          <a:noFill/>
          <a:ln>
            <a:noFill/>
          </a:ln>
        </p:spPr>
        <p:txBody>
          <a:bodyPr anchorCtr="0" anchor="t" bIns="45700" lIns="91425" spcFirstLastPara="1" rIns="91425" wrap="square" tIns="45700">
            <a:noAutofit/>
          </a:bodyPr>
          <a:lstStyle/>
          <a:p>
            <a:pPr indent="-215900" lvl="0" marL="228600" rtl="0" algn="just">
              <a:lnSpc>
                <a:spcPct val="90000"/>
              </a:lnSpc>
              <a:spcBef>
                <a:spcPts val="1000"/>
              </a:spcBef>
              <a:spcAft>
                <a:spcPts val="0"/>
              </a:spcAft>
              <a:buSzPts val="1600"/>
              <a:buChar char="•"/>
            </a:pPr>
            <a:r>
              <a:rPr lang="en-IN" sz="1600"/>
              <a:t> </a:t>
            </a:r>
            <a:r>
              <a:rPr b="1" lang="en-IN" sz="1600"/>
              <a:t>Frontend Technologies</a:t>
            </a:r>
            <a:r>
              <a:rPr lang="en-IN" sz="1600"/>
              <a:t>: Typescript, Next.js</a:t>
            </a:r>
            <a:endParaRPr sz="1600"/>
          </a:p>
          <a:p>
            <a:pPr indent="-215900" lvl="0" marL="228600" rtl="0" algn="just">
              <a:lnSpc>
                <a:spcPct val="90000"/>
              </a:lnSpc>
              <a:spcBef>
                <a:spcPts val="1000"/>
              </a:spcBef>
              <a:spcAft>
                <a:spcPts val="0"/>
              </a:spcAft>
              <a:buSzPts val="1600"/>
              <a:buChar char="•"/>
            </a:pPr>
            <a:r>
              <a:rPr b="1" lang="en-IN" sz="1600"/>
              <a:t>Mapping and Geolocation</a:t>
            </a:r>
            <a:r>
              <a:rPr lang="en-IN" sz="1600"/>
              <a:t>: Leaflet.js/Mapbox</a:t>
            </a:r>
            <a:endParaRPr sz="1600"/>
          </a:p>
          <a:p>
            <a:pPr indent="-215900" lvl="0" marL="228600" rtl="0" algn="just">
              <a:lnSpc>
                <a:spcPct val="90000"/>
              </a:lnSpc>
              <a:spcBef>
                <a:spcPts val="1000"/>
              </a:spcBef>
              <a:spcAft>
                <a:spcPts val="0"/>
              </a:spcAft>
              <a:buSzPts val="1600"/>
              <a:buChar char="•"/>
            </a:pPr>
            <a:r>
              <a:rPr b="1" lang="en-IN" sz="1600"/>
              <a:t> UI Frameworks: </a:t>
            </a:r>
            <a:r>
              <a:rPr lang="en-IN" sz="1600"/>
              <a:t>Tailwind CSS, framer- motion</a:t>
            </a:r>
            <a:endParaRPr sz="1600"/>
          </a:p>
          <a:p>
            <a:pPr indent="-215900" lvl="0" marL="228600" rtl="0" algn="just">
              <a:lnSpc>
                <a:spcPct val="90000"/>
              </a:lnSpc>
              <a:spcBef>
                <a:spcPts val="1000"/>
              </a:spcBef>
              <a:spcAft>
                <a:spcPts val="0"/>
              </a:spcAft>
              <a:buSzPts val="1600"/>
              <a:buChar char="•"/>
            </a:pPr>
            <a:r>
              <a:rPr b="1" lang="en-IN" sz="1600"/>
              <a:t> Backend Technologies:</a:t>
            </a:r>
            <a:r>
              <a:rPr lang="en-IN" sz="1600"/>
              <a:t> Node.js(with Express) , MongoDB</a:t>
            </a:r>
            <a:endParaRPr sz="1600"/>
          </a:p>
          <a:p>
            <a:pPr indent="-215900" lvl="0" marL="228600" rtl="0" algn="just">
              <a:lnSpc>
                <a:spcPct val="90000"/>
              </a:lnSpc>
              <a:spcBef>
                <a:spcPts val="1000"/>
              </a:spcBef>
              <a:spcAft>
                <a:spcPts val="0"/>
              </a:spcAft>
              <a:buSzPts val="1600"/>
              <a:buChar char="•"/>
            </a:pPr>
            <a:r>
              <a:rPr lang="en-IN" sz="1600"/>
              <a:t> </a:t>
            </a:r>
            <a:r>
              <a:rPr b="1" lang="en-IN" sz="1600"/>
              <a:t>APIs:</a:t>
            </a:r>
            <a:r>
              <a:rPr lang="en-IN" sz="1600"/>
              <a:t> RESTful APIs</a:t>
            </a:r>
            <a:endParaRPr sz="1600"/>
          </a:p>
          <a:p>
            <a:pPr indent="-215900" lvl="0" marL="228600" rtl="0" algn="just">
              <a:lnSpc>
                <a:spcPct val="90000"/>
              </a:lnSpc>
              <a:spcBef>
                <a:spcPts val="1000"/>
              </a:spcBef>
              <a:spcAft>
                <a:spcPts val="0"/>
              </a:spcAft>
              <a:buSzPts val="1600"/>
              <a:buChar char="•"/>
            </a:pPr>
            <a:r>
              <a:rPr b="1" lang="en-IN" sz="1600"/>
              <a:t> Authentication and User Management</a:t>
            </a:r>
            <a:r>
              <a:rPr lang="en-IN" sz="1600"/>
              <a:t>: OAuth Authentication</a:t>
            </a:r>
            <a:endParaRPr sz="1600"/>
          </a:p>
          <a:p>
            <a:pPr indent="-215900" lvl="0" marL="228600" rtl="0" algn="just">
              <a:lnSpc>
                <a:spcPct val="90000"/>
              </a:lnSpc>
              <a:spcBef>
                <a:spcPts val="1000"/>
              </a:spcBef>
              <a:spcAft>
                <a:spcPts val="0"/>
              </a:spcAft>
              <a:buSzPts val="1600"/>
              <a:buChar char="•"/>
            </a:pPr>
            <a:r>
              <a:rPr lang="en-IN" sz="1600"/>
              <a:t> </a:t>
            </a:r>
            <a:r>
              <a:rPr b="1" lang="en-IN" sz="1600"/>
              <a:t>Points and Rewards System:</a:t>
            </a:r>
            <a:r>
              <a:rPr lang="en-IN" sz="1600"/>
              <a:t> Custom trained Algorithm (Random Forest Model)</a:t>
            </a:r>
            <a:endParaRPr sz="1600"/>
          </a:p>
        </p:txBody>
      </p:sp>
      <p:sp>
        <p:nvSpPr>
          <p:cNvPr id="131" name="Google Shape;131;p5"/>
          <p:cNvSpPr/>
          <p:nvPr/>
        </p:nvSpPr>
        <p:spPr>
          <a:xfrm flipH="1">
            <a:off x="0" y="6406116"/>
            <a:ext cx="12191998" cy="461774"/>
          </a:xfrm>
          <a:prstGeom prst="rect">
            <a:avLst/>
          </a:prstGeom>
          <a:gradFill>
            <a:gsLst>
              <a:gs pos="0">
                <a:srgbClr val="000000"/>
              </a:gs>
              <a:gs pos="100000">
                <a:srgbClr val="2F5496"/>
              </a:gs>
            </a:gsLst>
            <a:lin ang="15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 name="Google Shape;132;p5"/>
          <p:cNvSpPr/>
          <p:nvPr/>
        </p:nvSpPr>
        <p:spPr>
          <a:xfrm flipH="1">
            <a:off x="8115300" y="6406115"/>
            <a:ext cx="4076698" cy="464399"/>
          </a:xfrm>
          <a:prstGeom prst="rect">
            <a:avLst/>
          </a:prstGeom>
          <a:gradFill>
            <a:gsLst>
              <a:gs pos="0">
                <a:srgbClr val="000000">
                  <a:alpha val="30196"/>
                </a:srgbClr>
              </a:gs>
              <a:gs pos="19000">
                <a:srgbClr val="000000">
                  <a:alpha val="30196"/>
                </a:srgbClr>
              </a:gs>
              <a:gs pos="99000">
                <a:schemeClr val="accent1"/>
              </a:gs>
              <a:gs pos="100000">
                <a:schemeClr val="accent1"/>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5"/>
          <p:cNvSpPr txBox="1"/>
          <p:nvPr>
            <p:ph idx="12" type="sldNum"/>
          </p:nvPr>
        </p:nvSpPr>
        <p:spPr>
          <a:xfrm>
            <a:off x="11704320" y="6451877"/>
            <a:ext cx="448056"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100"/>
              <a:buNone/>
            </a:pPr>
            <a:fld id="{00000000-1234-1234-1234-123412341234}" type="slidenum">
              <a:rPr lang="en-IN" sz="1100">
                <a:solidFill>
                  <a:srgbClr val="FFFFFF"/>
                </a:solidFill>
              </a:rPr>
              <a:t>‹#›</a:t>
            </a:fld>
            <a:endParaRPr sz="110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6"/>
          <p:cNvSpPr txBox="1"/>
          <p:nvPr>
            <p:ph type="title"/>
          </p:nvPr>
        </p:nvSpPr>
        <p:spPr>
          <a:xfrm>
            <a:off x="643759" y="1684884"/>
            <a:ext cx="4150500" cy="1800300"/>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chemeClr val="dk1"/>
              </a:buClr>
              <a:buSzPts val="4000"/>
              <a:buFont typeface="Calibri"/>
              <a:buNone/>
            </a:pPr>
            <a:r>
              <a:rPr lang="en-IN" sz="4000"/>
              <a:t>Literature Survey	</a:t>
            </a:r>
            <a:endParaRPr/>
          </a:p>
        </p:txBody>
      </p:sp>
      <p:pic>
        <p:nvPicPr>
          <p:cNvPr id="140" name="Google Shape;140;p6"/>
          <p:cNvPicPr preferRelativeResize="0"/>
          <p:nvPr/>
        </p:nvPicPr>
        <p:blipFill rotWithShape="1">
          <a:blip r:embed="rId3">
            <a:alphaModFix/>
          </a:blip>
          <a:srcRect b="0" l="0" r="0" t="0"/>
          <a:stretch/>
        </p:blipFill>
        <p:spPr>
          <a:xfrm>
            <a:off x="423242" y="256828"/>
            <a:ext cx="11139778" cy="1141828"/>
          </a:xfrm>
          <a:prstGeom prst="rect">
            <a:avLst/>
          </a:prstGeom>
          <a:noFill/>
          <a:ln>
            <a:noFill/>
          </a:ln>
        </p:spPr>
      </p:pic>
      <p:sp>
        <p:nvSpPr>
          <p:cNvPr id="141" name="Google Shape;141;p6"/>
          <p:cNvSpPr txBox="1"/>
          <p:nvPr>
            <p:ph idx="1" type="body"/>
          </p:nvPr>
        </p:nvSpPr>
        <p:spPr>
          <a:xfrm>
            <a:off x="771100" y="2400050"/>
            <a:ext cx="8780700" cy="1800300"/>
          </a:xfrm>
          <a:prstGeom prst="rect">
            <a:avLst/>
          </a:prstGeom>
          <a:noFill/>
          <a:ln>
            <a:noFill/>
          </a:ln>
        </p:spPr>
        <p:txBody>
          <a:bodyPr anchorCtr="0" anchor="t" bIns="45700" lIns="91425" spcFirstLastPara="1" rIns="91425" wrap="square" tIns="45700">
            <a:noAutofit/>
          </a:bodyPr>
          <a:lstStyle/>
          <a:p>
            <a:pPr indent="0" lvl="0" marL="228600" marR="100965" rtl="0" algn="just">
              <a:lnSpc>
                <a:spcPct val="100000"/>
              </a:lnSpc>
              <a:spcBef>
                <a:spcPts val="0"/>
              </a:spcBef>
              <a:spcAft>
                <a:spcPts val="0"/>
              </a:spcAft>
              <a:buSzPts val="1800"/>
              <a:buNone/>
            </a:pPr>
            <a:r>
              <a:rPr b="1" lang="en-IN" sz="1500">
                <a:latin typeface="Times New Roman"/>
                <a:ea typeface="Times New Roman"/>
                <a:cs typeface="Times New Roman"/>
                <a:sym typeface="Times New Roman"/>
              </a:rPr>
              <a:t>Nnorom, I. C. &amp; Osibanjo, O. (2008)</a:t>
            </a:r>
            <a:r>
              <a:rPr lang="en-IN" sz="1500">
                <a:latin typeface="Times New Roman"/>
                <a:ea typeface="Times New Roman"/>
                <a:cs typeface="Times New Roman"/>
                <a:sym typeface="Times New Roman"/>
              </a:rPr>
              <a:t> focuses on the global state of e-waste management, particularly in developing nations like Nigeria. The paper highlights the hazards of improper e-waste disposal and proposes guidelines for better recycling practices, emphasizing the need for government intervention and public awareness campaigns[1]</a:t>
            </a:r>
            <a:r>
              <a:rPr b="1" lang="en-IN" sz="1500">
                <a:latin typeface="Times New Roman"/>
                <a:ea typeface="Times New Roman"/>
                <a:cs typeface="Times New Roman"/>
                <a:sym typeface="Times New Roman"/>
              </a:rPr>
              <a:t>.Manomivibul, P. (2009)</a:t>
            </a:r>
            <a:r>
              <a:rPr lang="en-IN" sz="1500">
                <a:latin typeface="Times New Roman"/>
                <a:ea typeface="Times New Roman"/>
                <a:cs typeface="Times New Roman"/>
                <a:sym typeface="Times New Roman"/>
              </a:rPr>
              <a:t>evaluates the effectiveness of Extended Producer Responsibility (EPR) policies in managing e-waste across different countries. The study reviews case studies from Europe, Asia, and the U.S., showcasing how EPR incentivizes companies to design products with reduced environmental impact[2].</a:t>
            </a:r>
            <a:r>
              <a:rPr b="1" lang="en-IN" sz="1500">
                <a:latin typeface="Times New Roman"/>
                <a:ea typeface="Times New Roman"/>
                <a:cs typeface="Times New Roman"/>
                <a:sym typeface="Times New Roman"/>
              </a:rPr>
              <a:t>Grant, K., Goldizen, F. C., Sly, P. D., et al. (2013)</a:t>
            </a:r>
            <a:r>
              <a:rPr lang="en-IN" sz="1500">
                <a:latin typeface="Times New Roman"/>
                <a:ea typeface="Times New Roman"/>
                <a:cs typeface="Times New Roman"/>
                <a:sym typeface="Times New Roman"/>
              </a:rPr>
              <a:t> provides a systematic review of the health impacts of e-waste, particularly on children in low-income countries where informal recycling is common. The paper links e-waste exposure to respiratory issues, cognitive development problems, and chronic diseases[3].</a:t>
            </a:r>
            <a:r>
              <a:rPr b="1" lang="en-IN" sz="1500">
                <a:latin typeface="Times New Roman"/>
                <a:ea typeface="Times New Roman"/>
                <a:cs typeface="Times New Roman"/>
                <a:sym typeface="Times New Roman"/>
              </a:rPr>
              <a:t>Widmer, R., Oswald-Krapf, H., Sinha-Khetriwal, D., et al. (2005)</a:t>
            </a:r>
            <a:r>
              <a:rPr lang="en-IN" sz="1500">
                <a:latin typeface="Times New Roman"/>
                <a:ea typeface="Times New Roman"/>
                <a:cs typeface="Times New Roman"/>
                <a:sym typeface="Times New Roman"/>
              </a:rPr>
              <a:t> discusses the importance of e-waste recycling and emerging trends in the industry. The authors highlight key recycling technologies but note that implementation remains slow due to the lack of regulatory frameworks and public awareness[4].</a:t>
            </a:r>
            <a:r>
              <a:rPr b="1" lang="en-IN" sz="1500">
                <a:latin typeface="Times New Roman"/>
                <a:ea typeface="Times New Roman"/>
                <a:cs typeface="Times New Roman"/>
                <a:sym typeface="Times New Roman"/>
              </a:rPr>
              <a:t>Kahhat, R. &amp; Williams, E. (2012)</a:t>
            </a:r>
            <a:r>
              <a:rPr lang="en-IN" sz="1500">
                <a:latin typeface="Times New Roman"/>
                <a:ea typeface="Times New Roman"/>
                <a:cs typeface="Times New Roman"/>
                <a:sym typeface="Times New Roman"/>
              </a:rPr>
              <a:t> examines e-waste policy frameworks across countries, comparing regulatory measures like EPR and take-back schemes. The paper finds that countries with well-developed regulations, such as the EU, have better e-waste management outcomes[5]</a:t>
            </a:r>
            <a:endParaRPr sz="1500"/>
          </a:p>
        </p:txBody>
      </p:sp>
      <p:sp>
        <p:nvSpPr>
          <p:cNvPr id="142" name="Google Shape;142;p6"/>
          <p:cNvSpPr/>
          <p:nvPr/>
        </p:nvSpPr>
        <p:spPr>
          <a:xfrm flipH="1">
            <a:off x="0" y="6406116"/>
            <a:ext cx="12191998" cy="461774"/>
          </a:xfrm>
          <a:prstGeom prst="rect">
            <a:avLst/>
          </a:prstGeom>
          <a:gradFill>
            <a:gsLst>
              <a:gs pos="0">
                <a:srgbClr val="000000"/>
              </a:gs>
              <a:gs pos="100000">
                <a:srgbClr val="2F5496"/>
              </a:gs>
            </a:gsLst>
            <a:lin ang="15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6"/>
          <p:cNvSpPr/>
          <p:nvPr/>
        </p:nvSpPr>
        <p:spPr>
          <a:xfrm flipH="1">
            <a:off x="8115300" y="6406115"/>
            <a:ext cx="4076698" cy="464399"/>
          </a:xfrm>
          <a:prstGeom prst="rect">
            <a:avLst/>
          </a:prstGeom>
          <a:gradFill>
            <a:gsLst>
              <a:gs pos="0">
                <a:srgbClr val="000000">
                  <a:alpha val="30196"/>
                </a:srgbClr>
              </a:gs>
              <a:gs pos="19000">
                <a:srgbClr val="000000">
                  <a:alpha val="30196"/>
                </a:srgbClr>
              </a:gs>
              <a:gs pos="99000">
                <a:schemeClr val="accent1"/>
              </a:gs>
              <a:gs pos="100000">
                <a:schemeClr val="accent1"/>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6"/>
          <p:cNvSpPr txBox="1"/>
          <p:nvPr>
            <p:ph idx="12" type="sldNum"/>
          </p:nvPr>
        </p:nvSpPr>
        <p:spPr>
          <a:xfrm>
            <a:off x="11704320" y="6451877"/>
            <a:ext cx="448056"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100"/>
              <a:buNone/>
            </a:pPr>
            <a:fld id="{00000000-1234-1234-1234-123412341234}" type="slidenum">
              <a:rPr lang="en-IN" sz="1100">
                <a:solidFill>
                  <a:srgbClr val="FFFFFF"/>
                </a:solidFill>
              </a:rPr>
              <a:t>‹#›</a:t>
            </a:fld>
            <a:endParaRPr sz="11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p7"/>
          <p:cNvSpPr txBox="1"/>
          <p:nvPr>
            <p:ph type="title"/>
          </p:nvPr>
        </p:nvSpPr>
        <p:spPr>
          <a:xfrm>
            <a:off x="643759" y="1684884"/>
            <a:ext cx="4150500" cy="18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IN" sz="4000"/>
              <a:t>SDGs	</a:t>
            </a:r>
            <a:endParaRPr/>
          </a:p>
        </p:txBody>
      </p:sp>
      <p:pic>
        <p:nvPicPr>
          <p:cNvPr id="151" name="Google Shape;151;p7"/>
          <p:cNvPicPr preferRelativeResize="0"/>
          <p:nvPr/>
        </p:nvPicPr>
        <p:blipFill rotWithShape="1">
          <a:blip r:embed="rId3">
            <a:alphaModFix/>
          </a:blip>
          <a:srcRect b="0" l="0" r="0" t="0"/>
          <a:stretch/>
        </p:blipFill>
        <p:spPr>
          <a:xfrm>
            <a:off x="423242" y="256828"/>
            <a:ext cx="11139778" cy="1141828"/>
          </a:xfrm>
          <a:prstGeom prst="rect">
            <a:avLst/>
          </a:prstGeom>
          <a:noFill/>
          <a:ln>
            <a:noFill/>
          </a:ln>
        </p:spPr>
      </p:pic>
      <p:sp>
        <p:nvSpPr>
          <p:cNvPr id="152" name="Google Shape;152;p7"/>
          <p:cNvSpPr txBox="1"/>
          <p:nvPr>
            <p:ph idx="1" type="body"/>
          </p:nvPr>
        </p:nvSpPr>
        <p:spPr>
          <a:xfrm>
            <a:off x="771100" y="2400050"/>
            <a:ext cx="8780700" cy="18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sz="1300">
                <a:latin typeface="Arial"/>
                <a:ea typeface="Arial"/>
                <a:cs typeface="Arial"/>
                <a:sym typeface="Arial"/>
              </a:rPr>
              <a:t>SDG 3: Good Health and Well-being</a:t>
            </a:r>
            <a:endParaRPr b="1" i="1" sz="1300">
              <a:latin typeface="Arial"/>
              <a:ea typeface="Arial"/>
              <a:cs typeface="Arial"/>
              <a:sym typeface="Arial"/>
            </a:endParaRPr>
          </a:p>
          <a:p>
            <a:pPr indent="0" lvl="0" marL="0" rtl="0" algn="l">
              <a:lnSpc>
                <a:spcPct val="115000"/>
              </a:lnSpc>
              <a:spcBef>
                <a:spcPts val="1200"/>
              </a:spcBef>
              <a:spcAft>
                <a:spcPts val="0"/>
              </a:spcAft>
              <a:buSzPts val="1800"/>
              <a:buNone/>
            </a:pPr>
            <a:r>
              <a:rPr lang="en-IN" sz="1100">
                <a:latin typeface="Arial"/>
                <a:ea typeface="Arial"/>
                <a:cs typeface="Arial"/>
                <a:sym typeface="Arial"/>
              </a:rPr>
              <a:t>E-waste has harmful chemicals. If not handled safely, it can make people sick. Proper management keeps people healthy.</a:t>
            </a:r>
            <a:endParaRPr sz="1100">
              <a:latin typeface="Arial"/>
              <a:ea typeface="Arial"/>
              <a:cs typeface="Arial"/>
              <a:sym typeface="Arial"/>
            </a:endParaRPr>
          </a:p>
          <a:p>
            <a:pPr indent="0" lvl="0" marL="0" rtl="0" algn="l">
              <a:lnSpc>
                <a:spcPct val="115000"/>
              </a:lnSpc>
              <a:spcBef>
                <a:spcPts val="1400"/>
              </a:spcBef>
              <a:spcAft>
                <a:spcPts val="0"/>
              </a:spcAft>
              <a:buSzPts val="1800"/>
              <a:buNone/>
            </a:pPr>
            <a:r>
              <a:rPr b="1" lang="en-IN" sz="1300">
                <a:latin typeface="Arial"/>
                <a:ea typeface="Arial"/>
                <a:cs typeface="Arial"/>
                <a:sym typeface="Arial"/>
              </a:rPr>
              <a:t>SDG 11: Sustainable Cities and Communities</a:t>
            </a:r>
            <a:endParaRPr b="1" i="1" sz="1300">
              <a:latin typeface="Arial"/>
              <a:ea typeface="Arial"/>
              <a:cs typeface="Arial"/>
              <a:sym typeface="Arial"/>
            </a:endParaRPr>
          </a:p>
          <a:p>
            <a:pPr indent="0" lvl="0" marL="0" rtl="0" algn="l">
              <a:lnSpc>
                <a:spcPct val="115000"/>
              </a:lnSpc>
              <a:spcBef>
                <a:spcPts val="1200"/>
              </a:spcBef>
              <a:spcAft>
                <a:spcPts val="0"/>
              </a:spcAft>
              <a:buSzPts val="1800"/>
              <a:buNone/>
            </a:pPr>
            <a:r>
              <a:rPr lang="en-IN" sz="1100">
                <a:latin typeface="Arial"/>
                <a:ea typeface="Arial"/>
                <a:cs typeface="Arial"/>
                <a:sym typeface="Arial"/>
              </a:rPr>
              <a:t>Managing e-waste properly makes cities cleaner and safer. It also reduces pollution in communities.</a:t>
            </a:r>
            <a:endParaRPr sz="1100">
              <a:latin typeface="Arial"/>
              <a:ea typeface="Arial"/>
              <a:cs typeface="Arial"/>
              <a:sym typeface="Arial"/>
            </a:endParaRPr>
          </a:p>
          <a:p>
            <a:pPr indent="0" lvl="0" marL="0" rtl="0" algn="l">
              <a:lnSpc>
                <a:spcPct val="115000"/>
              </a:lnSpc>
              <a:spcBef>
                <a:spcPts val="1400"/>
              </a:spcBef>
              <a:spcAft>
                <a:spcPts val="0"/>
              </a:spcAft>
              <a:buSzPts val="1800"/>
              <a:buNone/>
            </a:pPr>
            <a:r>
              <a:rPr b="1" lang="en-IN" sz="1300">
                <a:latin typeface="Arial"/>
                <a:ea typeface="Arial"/>
                <a:cs typeface="Arial"/>
                <a:sym typeface="Arial"/>
              </a:rPr>
              <a:t>SDG 12: Responsible Consumption and Production</a:t>
            </a:r>
            <a:endParaRPr b="1" i="1" sz="1300">
              <a:latin typeface="Arial"/>
              <a:ea typeface="Arial"/>
              <a:cs typeface="Arial"/>
              <a:sym typeface="Arial"/>
            </a:endParaRPr>
          </a:p>
          <a:p>
            <a:pPr indent="0" lvl="0" marL="0" rtl="0" algn="l">
              <a:lnSpc>
                <a:spcPct val="115000"/>
              </a:lnSpc>
              <a:spcBef>
                <a:spcPts val="1200"/>
              </a:spcBef>
              <a:spcAft>
                <a:spcPts val="0"/>
              </a:spcAft>
              <a:buSzPts val="1800"/>
              <a:buNone/>
            </a:pPr>
            <a:r>
              <a:rPr lang="en-IN" sz="1100">
                <a:latin typeface="Arial"/>
                <a:ea typeface="Arial"/>
                <a:cs typeface="Arial"/>
                <a:sym typeface="Arial"/>
              </a:rPr>
              <a:t>This goal is about using things wisely and reducing waste. E-waste fits here because it encourages recycling, reuse, and safe disposal of electronic items.</a:t>
            </a:r>
            <a:endParaRPr sz="1100">
              <a:latin typeface="Arial"/>
              <a:ea typeface="Arial"/>
              <a:cs typeface="Arial"/>
              <a:sym typeface="Arial"/>
            </a:endParaRPr>
          </a:p>
          <a:p>
            <a:pPr indent="0" lvl="0" marL="0" rtl="0" algn="l">
              <a:lnSpc>
                <a:spcPct val="115000"/>
              </a:lnSpc>
              <a:spcBef>
                <a:spcPts val="1400"/>
              </a:spcBef>
              <a:spcAft>
                <a:spcPts val="0"/>
              </a:spcAft>
              <a:buSzPts val="1800"/>
              <a:buNone/>
            </a:pPr>
            <a:r>
              <a:rPr b="1" lang="en-IN" sz="1300">
                <a:latin typeface="Arial"/>
                <a:ea typeface="Arial"/>
                <a:cs typeface="Arial"/>
                <a:sym typeface="Arial"/>
              </a:rPr>
              <a:t> SDG 13: Climate Action</a:t>
            </a:r>
            <a:endParaRPr b="1" i="1" sz="1300">
              <a:latin typeface="Arial"/>
              <a:ea typeface="Arial"/>
              <a:cs typeface="Arial"/>
              <a:sym typeface="Arial"/>
            </a:endParaRPr>
          </a:p>
          <a:p>
            <a:pPr indent="0" lvl="0" marL="0" rtl="0" algn="l">
              <a:lnSpc>
                <a:spcPct val="115000"/>
              </a:lnSpc>
              <a:spcBef>
                <a:spcPts val="1200"/>
              </a:spcBef>
              <a:spcAft>
                <a:spcPts val="0"/>
              </a:spcAft>
              <a:buSzPts val="1800"/>
              <a:buNone/>
            </a:pPr>
            <a:r>
              <a:rPr lang="en-IN" sz="1100">
                <a:latin typeface="Arial"/>
                <a:ea typeface="Arial"/>
                <a:cs typeface="Arial"/>
                <a:sym typeface="Arial"/>
              </a:rPr>
              <a:t>Burning or dumping e-waste adds harmful gases to the air. Managing e-waste properly helps fight climate change and protect the environment.</a:t>
            </a:r>
            <a:endParaRPr sz="1100">
              <a:latin typeface="Arial"/>
              <a:ea typeface="Arial"/>
              <a:cs typeface="Arial"/>
              <a:sym typeface="Arial"/>
            </a:endParaRPr>
          </a:p>
          <a:p>
            <a:pPr indent="0" lvl="0" marL="0" rtl="0" algn="l">
              <a:lnSpc>
                <a:spcPct val="115000"/>
              </a:lnSpc>
              <a:spcBef>
                <a:spcPts val="1200"/>
              </a:spcBef>
              <a:spcAft>
                <a:spcPts val="0"/>
              </a:spcAft>
              <a:buSzPts val="1800"/>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marR="100965" rtl="0" algn="just">
              <a:lnSpc>
                <a:spcPct val="100000"/>
              </a:lnSpc>
              <a:spcBef>
                <a:spcPts val="1200"/>
              </a:spcBef>
              <a:spcAft>
                <a:spcPts val="0"/>
              </a:spcAft>
              <a:buSzPts val="1800"/>
              <a:buNone/>
            </a:pPr>
            <a:r>
              <a:t/>
            </a:r>
            <a:endParaRPr sz="1500"/>
          </a:p>
        </p:txBody>
      </p:sp>
      <p:sp>
        <p:nvSpPr>
          <p:cNvPr id="153" name="Google Shape;153;p7"/>
          <p:cNvSpPr/>
          <p:nvPr/>
        </p:nvSpPr>
        <p:spPr>
          <a:xfrm flipH="1">
            <a:off x="-2" y="6406116"/>
            <a:ext cx="12192000" cy="461700"/>
          </a:xfrm>
          <a:prstGeom prst="rect">
            <a:avLst/>
          </a:prstGeom>
          <a:gradFill>
            <a:gsLst>
              <a:gs pos="0">
                <a:srgbClr val="000000"/>
              </a:gs>
              <a:gs pos="100000">
                <a:srgbClr val="2F5496"/>
              </a:gs>
            </a:gsLst>
            <a:lin ang="1499992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 name="Google Shape;154;p7"/>
          <p:cNvSpPr/>
          <p:nvPr/>
        </p:nvSpPr>
        <p:spPr>
          <a:xfrm flipH="1">
            <a:off x="8115298" y="6406115"/>
            <a:ext cx="4076700" cy="464400"/>
          </a:xfrm>
          <a:prstGeom prst="rect">
            <a:avLst/>
          </a:prstGeom>
          <a:gradFill>
            <a:gsLst>
              <a:gs pos="0">
                <a:srgbClr val="000000">
                  <a:alpha val="30196"/>
                </a:srgbClr>
              </a:gs>
              <a:gs pos="19000">
                <a:srgbClr val="000000">
                  <a:alpha val="30196"/>
                </a:srgbClr>
              </a:gs>
              <a:gs pos="99000">
                <a:schemeClr val="accent1"/>
              </a:gs>
              <a:gs pos="100000">
                <a:schemeClr val="accent1"/>
              </a:gs>
            </a:gsLst>
            <a:lin ang="13199916"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7"/>
          <p:cNvSpPr txBox="1"/>
          <p:nvPr>
            <p:ph idx="12" type="sldNum"/>
          </p:nvPr>
        </p:nvSpPr>
        <p:spPr>
          <a:xfrm>
            <a:off x="11704320" y="6451877"/>
            <a:ext cx="448200" cy="3651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100"/>
              <a:buNone/>
            </a:pPr>
            <a:fld id="{00000000-1234-1234-1234-123412341234}" type="slidenum">
              <a:rPr lang="en-IN" sz="1100">
                <a:solidFill>
                  <a:srgbClr val="FFFFFF"/>
                </a:solidFill>
              </a:rPr>
              <a:t>‹#›</a:t>
            </a:fld>
            <a:endParaRPr sz="11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p8"/>
          <p:cNvSpPr txBox="1"/>
          <p:nvPr>
            <p:ph type="title"/>
          </p:nvPr>
        </p:nvSpPr>
        <p:spPr>
          <a:xfrm>
            <a:off x="438777" y="957763"/>
            <a:ext cx="3981900" cy="221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Diagrams</a:t>
            </a:r>
            <a:endParaRPr/>
          </a:p>
          <a:p>
            <a:pPr indent="0" lvl="0" marL="0" rtl="0" algn="l">
              <a:lnSpc>
                <a:spcPct val="90000"/>
              </a:lnSpc>
              <a:spcBef>
                <a:spcPts val="0"/>
              </a:spcBef>
              <a:spcAft>
                <a:spcPts val="0"/>
              </a:spcAft>
              <a:buClr>
                <a:schemeClr val="dk1"/>
              </a:buClr>
              <a:buSzPts val="4400"/>
              <a:buFont typeface="Calibri"/>
              <a:buNone/>
            </a:pPr>
            <a:r>
              <a:t/>
            </a:r>
            <a:endParaRPr/>
          </a:p>
          <a:p>
            <a:pPr indent="0" lvl="0" marL="0" rtl="0" algn="l">
              <a:lnSpc>
                <a:spcPct val="90000"/>
              </a:lnSpc>
              <a:spcBef>
                <a:spcPts val="0"/>
              </a:spcBef>
              <a:spcAft>
                <a:spcPts val="0"/>
              </a:spcAft>
              <a:buClr>
                <a:schemeClr val="dk1"/>
              </a:buClr>
              <a:buSzPts val="4400"/>
              <a:buFont typeface="Calibri"/>
              <a:buNone/>
            </a:pPr>
            <a:r>
              <a:rPr lang="en-IN" sz="3200"/>
              <a:t>FLOW CHART</a:t>
            </a:r>
            <a:endParaRPr sz="3200"/>
          </a:p>
        </p:txBody>
      </p:sp>
      <p:sp>
        <p:nvSpPr>
          <p:cNvPr id="162" name="Google Shape;162;p8"/>
          <p:cNvSpPr/>
          <p:nvPr/>
        </p:nvSpPr>
        <p:spPr>
          <a:xfrm rot="6269068">
            <a:off x="8717845" y="3339275"/>
            <a:ext cx="2987899" cy="298789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63" name="Google Shape;163;p8"/>
          <p:cNvPicPr preferRelativeResize="0"/>
          <p:nvPr/>
        </p:nvPicPr>
        <p:blipFill rotWithShape="1">
          <a:blip r:embed="rId3">
            <a:alphaModFix/>
          </a:blip>
          <a:srcRect b="0" l="0" r="0" t="0"/>
          <a:stretch/>
        </p:blipFill>
        <p:spPr>
          <a:xfrm>
            <a:off x="659914" y="136525"/>
            <a:ext cx="10872172" cy="1114398"/>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164" name="Google Shape;164;p8"/>
          <p:cNvSpPr txBox="1"/>
          <p:nvPr>
            <p:ph idx="1" type="body"/>
          </p:nvPr>
        </p:nvSpPr>
        <p:spPr>
          <a:xfrm>
            <a:off x="5149120" y="1516214"/>
            <a:ext cx="6382966" cy="221651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sz="2200"/>
          </a:p>
          <a:p>
            <a:pPr indent="0" lvl="0" marL="0" rtl="0" algn="l">
              <a:lnSpc>
                <a:spcPct val="90000"/>
              </a:lnSpc>
              <a:spcBef>
                <a:spcPts val="0"/>
              </a:spcBef>
              <a:spcAft>
                <a:spcPts val="0"/>
              </a:spcAft>
              <a:buSzPts val="1800"/>
              <a:buNone/>
            </a:pPr>
            <a:r>
              <a:t/>
            </a:r>
            <a:endParaRPr sz="2200"/>
          </a:p>
        </p:txBody>
      </p:sp>
      <p:sp>
        <p:nvSpPr>
          <p:cNvPr id="165" name="Google Shape;16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166" name="Google Shape;166;p8"/>
          <p:cNvPicPr preferRelativeResize="0"/>
          <p:nvPr/>
        </p:nvPicPr>
        <p:blipFill rotWithShape="1">
          <a:blip r:embed="rId4">
            <a:alphaModFix/>
          </a:blip>
          <a:srcRect b="0" l="0" r="0" t="0"/>
          <a:stretch/>
        </p:blipFill>
        <p:spPr>
          <a:xfrm>
            <a:off x="3230973" y="1920250"/>
            <a:ext cx="8122824" cy="46634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p10"/>
          <p:cNvSpPr/>
          <p:nvPr/>
        </p:nvSpPr>
        <p:spPr>
          <a:xfrm>
            <a:off x="-160075" y="136525"/>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10"/>
          <p:cNvSpPr txBox="1"/>
          <p:nvPr>
            <p:ph type="title"/>
          </p:nvPr>
        </p:nvSpPr>
        <p:spPr>
          <a:xfrm>
            <a:off x="399577" y="675913"/>
            <a:ext cx="3981900" cy="221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200"/>
              <a:t>Project-Screenshots</a:t>
            </a:r>
            <a:endParaRPr sz="3200"/>
          </a:p>
        </p:txBody>
      </p:sp>
      <p:sp>
        <p:nvSpPr>
          <p:cNvPr id="173" name="Google Shape;173;p10"/>
          <p:cNvSpPr/>
          <p:nvPr/>
        </p:nvSpPr>
        <p:spPr>
          <a:xfrm rot="6269048">
            <a:off x="8717891" y="3339291"/>
            <a:ext cx="2987863" cy="2987863"/>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74" name="Google Shape;174;p10"/>
          <p:cNvPicPr preferRelativeResize="0"/>
          <p:nvPr/>
        </p:nvPicPr>
        <p:blipFill rotWithShape="1">
          <a:blip r:embed="rId3">
            <a:alphaModFix/>
          </a:blip>
          <a:srcRect b="0" l="0" r="0" t="0"/>
          <a:stretch/>
        </p:blipFill>
        <p:spPr>
          <a:xfrm>
            <a:off x="659914" y="136525"/>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175" name="Google Shape;175;p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176" name="Google Shape;176;p10"/>
          <p:cNvPicPr preferRelativeResize="0"/>
          <p:nvPr/>
        </p:nvPicPr>
        <p:blipFill rotWithShape="1">
          <a:blip r:embed="rId4">
            <a:alphaModFix/>
          </a:blip>
          <a:srcRect b="0" l="0" r="0" t="0"/>
          <a:stretch/>
        </p:blipFill>
        <p:spPr>
          <a:xfrm>
            <a:off x="1713138" y="2285198"/>
            <a:ext cx="8445577" cy="4436251"/>
          </a:xfrm>
          <a:prstGeom prst="rect">
            <a:avLst/>
          </a:prstGeom>
          <a:solidFill>
            <a:schemeClr val="lt1"/>
          </a:solid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11"/>
          <p:cNvSpPr/>
          <p:nvPr/>
        </p:nvSpPr>
        <p:spPr>
          <a:xfrm>
            <a:off x="-160075" y="136525"/>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2" name="Google Shape;182;p11"/>
          <p:cNvSpPr txBox="1"/>
          <p:nvPr>
            <p:ph type="title"/>
          </p:nvPr>
        </p:nvSpPr>
        <p:spPr>
          <a:xfrm>
            <a:off x="399577" y="675913"/>
            <a:ext cx="3981900" cy="221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200"/>
              <a:t>Project-Screenshots</a:t>
            </a:r>
            <a:endParaRPr sz="3200"/>
          </a:p>
        </p:txBody>
      </p:sp>
      <p:sp>
        <p:nvSpPr>
          <p:cNvPr id="183" name="Google Shape;183;p11"/>
          <p:cNvSpPr/>
          <p:nvPr/>
        </p:nvSpPr>
        <p:spPr>
          <a:xfrm rot="6269048">
            <a:off x="8717891" y="3339291"/>
            <a:ext cx="2987863" cy="2987863"/>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84" name="Google Shape;184;p11"/>
          <p:cNvPicPr preferRelativeResize="0"/>
          <p:nvPr/>
        </p:nvPicPr>
        <p:blipFill rotWithShape="1">
          <a:blip r:embed="rId3">
            <a:alphaModFix/>
          </a:blip>
          <a:srcRect b="0" l="0" r="0" t="0"/>
          <a:stretch/>
        </p:blipFill>
        <p:spPr>
          <a:xfrm>
            <a:off x="659914" y="136525"/>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185" name="Google Shape;185;p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186" name="Google Shape;186;p11"/>
          <p:cNvPicPr preferRelativeResize="0"/>
          <p:nvPr/>
        </p:nvPicPr>
        <p:blipFill rotWithShape="1">
          <a:blip r:embed="rId4">
            <a:alphaModFix/>
          </a:blip>
          <a:srcRect b="0" l="0" r="0" t="0"/>
          <a:stretch/>
        </p:blipFill>
        <p:spPr>
          <a:xfrm>
            <a:off x="2030663" y="2178842"/>
            <a:ext cx="7810527" cy="4391633"/>
          </a:xfrm>
          <a:prstGeom prst="rect">
            <a:avLst/>
          </a:prstGeom>
          <a:solidFill>
            <a:schemeClr val="lt1"/>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12"/>
          <p:cNvSpPr/>
          <p:nvPr/>
        </p:nvSpPr>
        <p:spPr>
          <a:xfrm>
            <a:off x="-160075" y="136525"/>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 name="Google Shape;192;p12"/>
          <p:cNvSpPr txBox="1"/>
          <p:nvPr>
            <p:ph type="title"/>
          </p:nvPr>
        </p:nvSpPr>
        <p:spPr>
          <a:xfrm>
            <a:off x="399577" y="675913"/>
            <a:ext cx="3981900" cy="221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200"/>
              <a:t>Project-Screenshots</a:t>
            </a:r>
            <a:endParaRPr sz="3200"/>
          </a:p>
        </p:txBody>
      </p:sp>
      <p:sp>
        <p:nvSpPr>
          <p:cNvPr id="193" name="Google Shape;193;p12"/>
          <p:cNvSpPr/>
          <p:nvPr/>
        </p:nvSpPr>
        <p:spPr>
          <a:xfrm rot="6269048">
            <a:off x="8717891" y="3339291"/>
            <a:ext cx="2987863" cy="2987863"/>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94" name="Google Shape;194;p12"/>
          <p:cNvPicPr preferRelativeResize="0"/>
          <p:nvPr/>
        </p:nvPicPr>
        <p:blipFill rotWithShape="1">
          <a:blip r:embed="rId3">
            <a:alphaModFix/>
          </a:blip>
          <a:srcRect b="0" l="0" r="0" t="0"/>
          <a:stretch/>
        </p:blipFill>
        <p:spPr>
          <a:xfrm>
            <a:off x="659914" y="136525"/>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195" name="Google Shape;195;p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196" name="Google Shape;196;p12"/>
          <p:cNvPicPr preferRelativeResize="0"/>
          <p:nvPr/>
        </p:nvPicPr>
        <p:blipFill rotWithShape="1">
          <a:blip r:embed="rId4">
            <a:alphaModFix/>
          </a:blip>
          <a:srcRect b="0" l="0" r="0" t="0"/>
          <a:stretch/>
        </p:blipFill>
        <p:spPr>
          <a:xfrm>
            <a:off x="2357075" y="2472525"/>
            <a:ext cx="7585150" cy="4256999"/>
          </a:xfrm>
          <a:prstGeom prst="rect">
            <a:avLst/>
          </a:prstGeom>
          <a:solidFill>
            <a:schemeClr val="lt1"/>
          </a:solid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13"/>
          <p:cNvSpPr/>
          <p:nvPr/>
        </p:nvSpPr>
        <p:spPr>
          <a:xfrm>
            <a:off x="-160075" y="136525"/>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13"/>
          <p:cNvSpPr txBox="1"/>
          <p:nvPr>
            <p:ph type="title"/>
          </p:nvPr>
        </p:nvSpPr>
        <p:spPr>
          <a:xfrm>
            <a:off x="399577" y="675913"/>
            <a:ext cx="3981900" cy="221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200"/>
              <a:t>Project-Screenshots</a:t>
            </a:r>
            <a:endParaRPr sz="3200"/>
          </a:p>
        </p:txBody>
      </p:sp>
      <p:sp>
        <p:nvSpPr>
          <p:cNvPr id="203" name="Google Shape;203;p13"/>
          <p:cNvSpPr/>
          <p:nvPr/>
        </p:nvSpPr>
        <p:spPr>
          <a:xfrm rot="6269048">
            <a:off x="8717891" y="3339291"/>
            <a:ext cx="2987863" cy="2987863"/>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204" name="Google Shape;204;p13"/>
          <p:cNvPicPr preferRelativeResize="0"/>
          <p:nvPr/>
        </p:nvPicPr>
        <p:blipFill rotWithShape="1">
          <a:blip r:embed="rId3">
            <a:alphaModFix/>
          </a:blip>
          <a:srcRect b="0" l="0" r="0" t="0"/>
          <a:stretch/>
        </p:blipFill>
        <p:spPr>
          <a:xfrm>
            <a:off x="659914" y="136525"/>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205" name="Google Shape;205;p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06" name="Google Shape;206;p13"/>
          <p:cNvPicPr preferRelativeResize="0"/>
          <p:nvPr/>
        </p:nvPicPr>
        <p:blipFill rotWithShape="1">
          <a:blip r:embed="rId4">
            <a:alphaModFix/>
          </a:blip>
          <a:srcRect b="0" l="0" r="0" t="0"/>
          <a:stretch/>
        </p:blipFill>
        <p:spPr>
          <a:xfrm>
            <a:off x="2537475" y="2188150"/>
            <a:ext cx="8355875" cy="4465174"/>
          </a:xfrm>
          <a:prstGeom prst="rect">
            <a:avLst/>
          </a:prstGeom>
          <a:solidFill>
            <a:schemeClr val="lt1"/>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sp>
        <p:nvSpPr>
          <p:cNvPr id="211" name="Google Shape;211;p14"/>
          <p:cNvSpPr/>
          <p:nvPr/>
        </p:nvSpPr>
        <p:spPr>
          <a:xfrm>
            <a:off x="-160075" y="-15875"/>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14"/>
          <p:cNvSpPr txBox="1"/>
          <p:nvPr>
            <p:ph type="title"/>
          </p:nvPr>
        </p:nvSpPr>
        <p:spPr>
          <a:xfrm>
            <a:off x="399577" y="675913"/>
            <a:ext cx="3981900" cy="221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200"/>
              <a:t>Project-Screenshots</a:t>
            </a:r>
            <a:endParaRPr sz="3200"/>
          </a:p>
        </p:txBody>
      </p:sp>
      <p:sp>
        <p:nvSpPr>
          <p:cNvPr id="213" name="Google Shape;213;p14"/>
          <p:cNvSpPr/>
          <p:nvPr/>
        </p:nvSpPr>
        <p:spPr>
          <a:xfrm rot="6269048">
            <a:off x="8717891" y="3339291"/>
            <a:ext cx="2987863" cy="2987863"/>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214" name="Google Shape;214;p14"/>
          <p:cNvPicPr preferRelativeResize="0"/>
          <p:nvPr/>
        </p:nvPicPr>
        <p:blipFill rotWithShape="1">
          <a:blip r:embed="rId3">
            <a:alphaModFix/>
          </a:blip>
          <a:srcRect b="0" l="0" r="0" t="0"/>
          <a:stretch/>
        </p:blipFill>
        <p:spPr>
          <a:xfrm>
            <a:off x="659914" y="136525"/>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215" name="Google Shape;215;p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16" name="Google Shape;216;p14"/>
          <p:cNvPicPr preferRelativeResize="0"/>
          <p:nvPr/>
        </p:nvPicPr>
        <p:blipFill rotWithShape="1">
          <a:blip r:embed="rId4">
            <a:alphaModFix/>
          </a:blip>
          <a:srcRect b="0" l="0" r="0" t="0"/>
          <a:stretch/>
        </p:blipFill>
        <p:spPr>
          <a:xfrm>
            <a:off x="1549826" y="2379917"/>
            <a:ext cx="7721399" cy="4341524"/>
          </a:xfrm>
          <a:prstGeom prst="rect">
            <a:avLst/>
          </a:prstGeom>
          <a:solidFill>
            <a:schemeClr val="lt1"/>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txBox="1"/>
          <p:nvPr>
            <p:ph idx="1" type="body"/>
          </p:nvPr>
        </p:nvSpPr>
        <p:spPr>
          <a:xfrm>
            <a:off x="659914" y="2439961"/>
            <a:ext cx="10515600" cy="2141539"/>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0"/>
              </a:spcBef>
              <a:spcAft>
                <a:spcPts val="0"/>
              </a:spcAft>
              <a:buSzPts val="1800"/>
              <a:buChar char="●"/>
            </a:pPr>
            <a:r>
              <a:rPr lang="en-IN"/>
              <a:t>Project is completed </a:t>
            </a:r>
            <a:endParaRPr/>
          </a:p>
          <a:p>
            <a:pPr indent="-342900" lvl="0" marL="457200" rtl="0" algn="l">
              <a:lnSpc>
                <a:spcPct val="90000"/>
              </a:lnSpc>
              <a:spcBef>
                <a:spcPts val="0"/>
              </a:spcBef>
              <a:spcAft>
                <a:spcPts val="0"/>
              </a:spcAft>
              <a:buSzPts val="1800"/>
              <a:buChar char="●"/>
            </a:pPr>
            <a:r>
              <a:rPr lang="en-IN"/>
              <a:t>Patent Proof</a:t>
            </a:r>
            <a:endParaRPr/>
          </a:p>
          <a:p>
            <a:pPr indent="-342900" lvl="0" marL="457200" rtl="0" algn="l">
              <a:lnSpc>
                <a:spcPct val="90000"/>
              </a:lnSpc>
              <a:spcBef>
                <a:spcPts val="0"/>
              </a:spcBef>
              <a:spcAft>
                <a:spcPts val="0"/>
              </a:spcAft>
              <a:buSzPts val="1800"/>
              <a:buChar char="●"/>
            </a:pPr>
            <a:r>
              <a:rPr lang="en-IN"/>
              <a:t>Synopsis Created</a:t>
            </a:r>
            <a:endParaRPr/>
          </a:p>
          <a:p>
            <a:pPr indent="-342900" lvl="0" marL="457200" rtl="0" algn="l">
              <a:lnSpc>
                <a:spcPct val="90000"/>
              </a:lnSpc>
              <a:spcBef>
                <a:spcPts val="0"/>
              </a:spcBef>
              <a:spcAft>
                <a:spcPts val="0"/>
              </a:spcAft>
              <a:buSzPts val="1800"/>
              <a:buChar char="●"/>
            </a:pPr>
            <a:r>
              <a:rPr lang="en-IN"/>
              <a:t>Project PPT created</a:t>
            </a:r>
            <a:endParaRPr/>
          </a:p>
          <a:p>
            <a:pPr indent="-342900" lvl="0" marL="457200" rtl="0" algn="l">
              <a:lnSpc>
                <a:spcPct val="90000"/>
              </a:lnSpc>
              <a:spcBef>
                <a:spcPts val="0"/>
              </a:spcBef>
              <a:spcAft>
                <a:spcPts val="0"/>
              </a:spcAft>
              <a:buSzPts val="1800"/>
              <a:buChar char="●"/>
            </a:pPr>
            <a:r>
              <a:rPr lang="en-IN"/>
              <a:t>Research paper accepted</a:t>
            </a:r>
            <a:endParaRPr/>
          </a:p>
          <a:p>
            <a:pPr indent="-342900" lvl="0" marL="457200" rtl="0" algn="l">
              <a:lnSpc>
                <a:spcPct val="90000"/>
              </a:lnSpc>
              <a:spcBef>
                <a:spcPts val="0"/>
              </a:spcBef>
              <a:spcAft>
                <a:spcPts val="0"/>
              </a:spcAft>
              <a:buSzPts val="1800"/>
              <a:buChar char="●"/>
            </a:pPr>
            <a:r>
              <a:rPr lang="en-IN"/>
              <a:t>Research paper presented</a:t>
            </a:r>
            <a:endParaRPr/>
          </a:p>
        </p:txBody>
      </p:sp>
      <p:sp>
        <p:nvSpPr>
          <p:cNvPr id="222" name="Google Shape;22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23" name="Google Shape;223;p15"/>
          <p:cNvPicPr preferRelativeResize="0"/>
          <p:nvPr/>
        </p:nvPicPr>
        <p:blipFill rotWithShape="1">
          <a:blip r:embed="rId3">
            <a:alphaModFix/>
          </a:blip>
          <a:srcRect b="0" l="0" r="0" t="0"/>
          <a:stretch/>
        </p:blipFill>
        <p:spPr>
          <a:xfrm>
            <a:off x="481628" y="0"/>
            <a:ext cx="10872172" cy="1114398"/>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224" name="Google Shape;224;p15"/>
          <p:cNvSpPr txBox="1"/>
          <p:nvPr/>
        </p:nvSpPr>
        <p:spPr>
          <a:xfrm>
            <a:off x="779389" y="1114398"/>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IN" sz="4400" u="none" cap="none" strike="noStrike">
                <a:solidFill>
                  <a:schemeClr val="dk1"/>
                </a:solidFill>
                <a:latin typeface="Calibri"/>
                <a:ea typeface="Calibri"/>
                <a:cs typeface="Calibri"/>
                <a:sym typeface="Calibri"/>
              </a:rPr>
              <a:t>Project Status</a:t>
            </a:r>
            <a:endParaRPr b="0" i="0" sz="1400" u="none" cap="none" strike="noStrike">
              <a:solidFill>
                <a:srgbClr val="000000"/>
              </a:solidFill>
              <a:latin typeface="Arial"/>
              <a:ea typeface="Arial"/>
              <a:cs typeface="Arial"/>
              <a:sym typeface="Arial"/>
            </a:endParaRPr>
          </a:p>
        </p:txBody>
      </p:sp>
      <p:sp>
        <p:nvSpPr>
          <p:cNvPr id="225" name="Google Shape;225;p15"/>
          <p:cNvSpPr txBox="1"/>
          <p:nvPr/>
        </p:nvSpPr>
        <p:spPr>
          <a:xfrm>
            <a:off x="264525" y="4732025"/>
            <a:ext cx="10962900" cy="180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IN" sz="2200" u="none" cap="none" strike="noStrike">
                <a:solidFill>
                  <a:schemeClr val="dk1"/>
                </a:solidFill>
                <a:latin typeface="Calibri"/>
                <a:ea typeface="Calibri"/>
                <a:cs typeface="Calibri"/>
                <a:sym typeface="Calibri"/>
              </a:rPr>
              <a:t>Drive Link (PPT &amp; Synopsis) :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IN" sz="2200" u="sng" cap="none" strike="noStrike">
                <a:solidFill>
                  <a:schemeClr val="hlink"/>
                </a:solidFill>
                <a:latin typeface="Calibri"/>
                <a:ea typeface="Calibri"/>
                <a:cs typeface="Calibri"/>
                <a:sym typeface="Calibri"/>
                <a:hlinkClick r:id="rId4"/>
              </a:rPr>
              <a:t>https://drive.google.com/drive/folders/1w27Q5C_5vtwclSMiu6CsP3b-4FnHndOt?usp=drive_link</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82b2e1e514_0_0"/>
          <p:cNvSpPr txBox="1"/>
          <p:nvPr>
            <p:ph type="title"/>
          </p:nvPr>
        </p:nvSpPr>
        <p:spPr>
          <a:xfrm>
            <a:off x="838200" y="-3377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IN"/>
              <a:t>Research Paper Accepted Proof</a:t>
            </a:r>
            <a:endParaRPr/>
          </a:p>
        </p:txBody>
      </p:sp>
      <p:sp>
        <p:nvSpPr>
          <p:cNvPr id="232" name="Google Shape;232;g382b2e1e514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233" name="Google Shape;233;g382b2e1e514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pic>
        <p:nvPicPr>
          <p:cNvPr id="234" name="Google Shape;234;g382b2e1e514_0_0"/>
          <p:cNvPicPr preferRelativeResize="0"/>
          <p:nvPr/>
        </p:nvPicPr>
        <p:blipFill>
          <a:blip r:embed="rId3">
            <a:alphaModFix/>
          </a:blip>
          <a:stretch>
            <a:fillRect/>
          </a:stretch>
        </p:blipFill>
        <p:spPr>
          <a:xfrm>
            <a:off x="74550" y="648675"/>
            <a:ext cx="8127076" cy="2684500"/>
          </a:xfrm>
          <a:prstGeom prst="rect">
            <a:avLst/>
          </a:prstGeom>
          <a:noFill/>
          <a:ln>
            <a:noFill/>
          </a:ln>
        </p:spPr>
      </p:pic>
      <p:pic>
        <p:nvPicPr>
          <p:cNvPr id="235" name="Google Shape;235;g382b2e1e514_0_0"/>
          <p:cNvPicPr preferRelativeResize="0"/>
          <p:nvPr/>
        </p:nvPicPr>
        <p:blipFill>
          <a:blip r:embed="rId4">
            <a:alphaModFix/>
          </a:blip>
          <a:stretch>
            <a:fillRect/>
          </a:stretch>
        </p:blipFill>
        <p:spPr>
          <a:xfrm>
            <a:off x="3898475" y="3152152"/>
            <a:ext cx="6848549" cy="28404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b37852349f_1_0"/>
          <p:cNvSpPr txBox="1"/>
          <p:nvPr>
            <p:ph type="title"/>
          </p:nvPr>
        </p:nvSpPr>
        <p:spPr>
          <a:xfrm>
            <a:off x="838200" y="365125"/>
            <a:ext cx="10515600" cy="6525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t>Paper Presented</a:t>
            </a:r>
            <a:endParaRPr/>
          </a:p>
        </p:txBody>
      </p:sp>
      <p:sp>
        <p:nvSpPr>
          <p:cNvPr id="242" name="Google Shape;242;g3b37852349f_1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243" name="Google Shape;243;g3b37852349f_1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pic>
        <p:nvPicPr>
          <p:cNvPr id="244" name="Google Shape;244;g3b37852349f_1_0"/>
          <p:cNvPicPr preferRelativeResize="0"/>
          <p:nvPr/>
        </p:nvPicPr>
        <p:blipFill>
          <a:blip r:embed="rId3">
            <a:alphaModFix/>
          </a:blip>
          <a:stretch>
            <a:fillRect/>
          </a:stretch>
        </p:blipFill>
        <p:spPr>
          <a:xfrm>
            <a:off x="1676400" y="1188525"/>
            <a:ext cx="9144000" cy="58218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nvSpPr>
        <p:spPr>
          <a:xfrm>
            <a:off x="3326075" y="1298175"/>
            <a:ext cx="4424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IN" sz="2800" u="none" cap="none" strike="noStrike">
                <a:solidFill>
                  <a:schemeClr val="dk1"/>
                </a:solidFill>
                <a:latin typeface="Calibri"/>
                <a:ea typeface="Calibri"/>
                <a:cs typeface="Calibri"/>
                <a:sym typeface="Calibri"/>
              </a:rPr>
              <a:t>Github- Links</a:t>
            </a:r>
            <a:endParaRPr b="0" i="0" sz="2800" u="none" cap="none" strike="noStrike">
              <a:solidFill>
                <a:schemeClr val="dk1"/>
              </a:solidFill>
              <a:latin typeface="Calibri"/>
              <a:ea typeface="Calibri"/>
              <a:cs typeface="Calibri"/>
              <a:sym typeface="Calibri"/>
            </a:endParaRPr>
          </a:p>
        </p:txBody>
      </p:sp>
      <p:sp>
        <p:nvSpPr>
          <p:cNvPr id="250" name="Google Shape;250;p17"/>
          <p:cNvSpPr txBox="1"/>
          <p:nvPr/>
        </p:nvSpPr>
        <p:spPr>
          <a:xfrm>
            <a:off x="1259750" y="2204575"/>
            <a:ext cx="44244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IN" sz="1100" u="sng" cap="none" strike="noStrike">
                <a:solidFill>
                  <a:schemeClr val="hlink"/>
                </a:solidFill>
                <a:latin typeface="Arial"/>
                <a:ea typeface="Arial"/>
                <a:cs typeface="Arial"/>
                <a:sym typeface="Arial"/>
                <a:hlinkClick r:id="rId3"/>
              </a:rPr>
              <a:t>tonmoy-cpu/Scraply-development</a:t>
            </a:r>
            <a:endParaRPr b="0" i="0" sz="2800" u="none" cap="none" strike="noStrike">
              <a:solidFill>
                <a:schemeClr val="dk1"/>
              </a:solidFill>
              <a:latin typeface="Calibri"/>
              <a:ea typeface="Calibri"/>
              <a:cs typeface="Calibri"/>
              <a:sym typeface="Calibri"/>
            </a:endParaRPr>
          </a:p>
        </p:txBody>
      </p:sp>
      <p:sp>
        <p:nvSpPr>
          <p:cNvPr id="251" name="Google Shape;251;p17"/>
          <p:cNvSpPr txBox="1"/>
          <p:nvPr/>
        </p:nvSpPr>
        <p:spPr>
          <a:xfrm>
            <a:off x="1259750" y="2615850"/>
            <a:ext cx="56433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IN" sz="1100" u="sng" cap="none" strike="noStrike">
                <a:solidFill>
                  <a:schemeClr val="hlink"/>
                </a:solidFill>
                <a:latin typeface="Arial"/>
                <a:ea typeface="Arial"/>
                <a:cs typeface="Arial"/>
                <a:sym typeface="Arial"/>
                <a:hlinkClick r:id="rId4"/>
              </a:rPr>
              <a:t>Utkarsh24072003</a:t>
            </a:r>
            <a:endParaRPr b="0" i="0" sz="2800" u="none" cap="none" strike="noStrike">
              <a:solidFill>
                <a:schemeClr val="dk1"/>
              </a:solidFill>
              <a:latin typeface="Calibri"/>
              <a:ea typeface="Calibri"/>
              <a:cs typeface="Calibri"/>
              <a:sym typeface="Calibri"/>
            </a:endParaRPr>
          </a:p>
        </p:txBody>
      </p:sp>
      <p:sp>
        <p:nvSpPr>
          <p:cNvPr id="252" name="Google Shape;252;p17"/>
          <p:cNvSpPr txBox="1"/>
          <p:nvPr/>
        </p:nvSpPr>
        <p:spPr>
          <a:xfrm>
            <a:off x="1259750" y="3027125"/>
            <a:ext cx="56433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IN" sz="1100" u="sng" cap="none" strike="noStrike">
                <a:solidFill>
                  <a:schemeClr val="hlink"/>
                </a:solidFill>
                <a:latin typeface="Calibri"/>
                <a:ea typeface="Calibri"/>
                <a:cs typeface="Calibri"/>
                <a:sym typeface="Calibri"/>
                <a:hlinkClick r:id="rId5"/>
              </a:rPr>
              <a:t>https://github.com/SarvagyaPratap</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53" name="Google Shape;253;p17"/>
          <p:cNvSpPr txBox="1"/>
          <p:nvPr/>
        </p:nvSpPr>
        <p:spPr>
          <a:xfrm>
            <a:off x="1259750" y="3448600"/>
            <a:ext cx="56433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IN" sz="1100" u="sng" cap="none" strike="noStrike">
                <a:solidFill>
                  <a:schemeClr val="hlink"/>
                </a:solidFill>
                <a:latin typeface="Calibri"/>
                <a:ea typeface="Calibri"/>
                <a:cs typeface="Calibri"/>
                <a:sym typeface="Calibri"/>
                <a:hlinkClick r:id="rId6"/>
              </a:rPr>
              <a:t>https://github.com/sajalmittal123</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8"/>
          <p:cNvSpPr txBox="1"/>
          <p:nvPr>
            <p:ph type="title"/>
          </p:nvPr>
        </p:nvSpPr>
        <p:spPr>
          <a:xfrm>
            <a:off x="838200" y="145894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References	</a:t>
            </a:r>
            <a:endParaRPr/>
          </a:p>
        </p:txBody>
      </p:sp>
      <p:sp>
        <p:nvSpPr>
          <p:cNvPr id="259" name="Google Shape;259;p18"/>
          <p:cNvSpPr txBox="1"/>
          <p:nvPr>
            <p:ph idx="1" type="body"/>
          </p:nvPr>
        </p:nvSpPr>
        <p:spPr>
          <a:xfrm>
            <a:off x="838200" y="2486025"/>
            <a:ext cx="10515600" cy="3690937"/>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800"/>
              <a:buNone/>
            </a:pPr>
            <a:r>
              <a:rPr lang="en-IN" sz="1200">
                <a:latin typeface="Times New Roman"/>
                <a:ea typeface="Times New Roman"/>
                <a:cs typeface="Times New Roman"/>
                <a:sym typeface="Times New Roman"/>
              </a:rPr>
              <a:t>[1] I. C. Nnorom and O. Osibanjo, "Global E-waste Management Practices," </a:t>
            </a:r>
            <a:r>
              <a:rPr i="1" lang="en-IN" sz="1200">
                <a:latin typeface="Times New Roman"/>
                <a:ea typeface="Times New Roman"/>
                <a:cs typeface="Times New Roman"/>
                <a:sym typeface="Times New Roman"/>
              </a:rPr>
              <a:t>Resources, Conservation and Recycling</a:t>
            </a:r>
            <a:r>
              <a:rPr lang="en-IN" sz="1200">
                <a:latin typeface="Times New Roman"/>
                <a:ea typeface="Times New Roman"/>
                <a:cs typeface="Times New Roman"/>
                <a:sym typeface="Times New Roman"/>
              </a:rPr>
              <a:t>, vol. 52, no. 9, pp. 1170-1182, 2008.</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lang="en-IN" sz="1200">
                <a:latin typeface="Times New Roman"/>
                <a:ea typeface="Times New Roman"/>
                <a:cs typeface="Times New Roman"/>
                <a:sym typeface="Times New Roman"/>
              </a:rPr>
              <a:t>[2] P. Manomivibul, "Extended Producer Responsibility (EPR) and Its Impact on E-Waste Recycling: A Global Perspective," </a:t>
            </a:r>
            <a:r>
              <a:rPr i="1" lang="en-IN" sz="1200">
                <a:latin typeface="Times New Roman"/>
                <a:ea typeface="Times New Roman"/>
                <a:cs typeface="Times New Roman"/>
                <a:sym typeface="Times New Roman"/>
              </a:rPr>
              <a:t>Waste Management &amp; Research</a:t>
            </a:r>
            <a:r>
              <a:rPr lang="en-IN" sz="1200">
                <a:latin typeface="Times New Roman"/>
                <a:ea typeface="Times New Roman"/>
                <a:cs typeface="Times New Roman"/>
                <a:sym typeface="Times New Roman"/>
              </a:rPr>
              <a:t>, vol. 27, no. 5, pp. 454-463, 2009.</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lang="en-IN" sz="1200">
                <a:latin typeface="Times New Roman"/>
                <a:ea typeface="Times New Roman"/>
                <a:cs typeface="Times New Roman"/>
                <a:sym typeface="Times New Roman"/>
              </a:rPr>
              <a:t>[3] K. Grant, F. C. Goldizen, P. D. Sly, et al., "Health Consequences of Exposure to E-Waste: A Systematic Review," </a:t>
            </a:r>
            <a:r>
              <a:rPr i="1" lang="en-IN" sz="1200">
                <a:latin typeface="Times New Roman"/>
                <a:ea typeface="Times New Roman"/>
                <a:cs typeface="Times New Roman"/>
                <a:sym typeface="Times New Roman"/>
              </a:rPr>
              <a:t>The Lancet Global Health</a:t>
            </a:r>
            <a:r>
              <a:rPr lang="en-IN" sz="1200">
                <a:latin typeface="Times New Roman"/>
                <a:ea typeface="Times New Roman"/>
                <a:cs typeface="Times New Roman"/>
                <a:sym typeface="Times New Roman"/>
              </a:rPr>
              <a:t>, vol. 1, no. 6, pp. e350-e361, 2013.</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lang="en-IN" sz="1200">
                <a:latin typeface="Times New Roman"/>
                <a:ea typeface="Times New Roman"/>
                <a:cs typeface="Times New Roman"/>
                <a:sym typeface="Times New Roman"/>
              </a:rPr>
              <a:t>[4] R. Widmer, H. Oswald-Krapf, D. Sinha-Khetriwal, et al., "Recycling of E-waste: An Emerging Trend," </a:t>
            </a:r>
            <a:r>
              <a:rPr i="1" lang="en-IN" sz="1200">
                <a:latin typeface="Times New Roman"/>
                <a:ea typeface="Times New Roman"/>
                <a:cs typeface="Times New Roman"/>
                <a:sym typeface="Times New Roman"/>
              </a:rPr>
              <a:t>Environmental Impact Assessment Review,</a:t>
            </a:r>
            <a:r>
              <a:rPr lang="en-IN" sz="1200">
                <a:latin typeface="Times New Roman"/>
                <a:ea typeface="Times New Roman"/>
                <a:cs typeface="Times New Roman"/>
                <a:sym typeface="Times New Roman"/>
              </a:rPr>
              <a:t> vol. 25, no. 5, pp. 436-458, 2005.</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lang="en-IN" sz="1200">
                <a:latin typeface="Times New Roman"/>
                <a:ea typeface="Times New Roman"/>
                <a:cs typeface="Times New Roman"/>
                <a:sym typeface="Times New Roman"/>
              </a:rPr>
              <a:t>[5] R. Kahhat and E. Williams, "Addressing the E-Waste Crisis: Policy Insights from a Cross-National Analysis," </a:t>
            </a:r>
            <a:r>
              <a:rPr i="1" lang="en-IN" sz="1200">
                <a:latin typeface="Times New Roman"/>
                <a:ea typeface="Times New Roman"/>
                <a:cs typeface="Times New Roman"/>
                <a:sym typeface="Times New Roman"/>
              </a:rPr>
              <a:t>Environmental Science &amp; Technology</a:t>
            </a:r>
            <a:r>
              <a:rPr lang="en-IN" sz="1200">
                <a:latin typeface="Times New Roman"/>
                <a:ea typeface="Times New Roman"/>
                <a:cs typeface="Times New Roman"/>
                <a:sym typeface="Times New Roman"/>
              </a:rPr>
              <a:t>, vol. 46, no. 5, pp. 2715-2723, 2012.</a:t>
            </a:r>
            <a:endParaRPr sz="12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p:txBody>
      </p:sp>
      <p:sp>
        <p:nvSpPr>
          <p:cNvPr id="260" name="Google Shape;26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61" name="Google Shape;261;p18"/>
          <p:cNvPicPr preferRelativeResize="0"/>
          <p:nvPr/>
        </p:nvPicPr>
        <p:blipFill rotWithShape="1">
          <a:blip r:embed="rId3">
            <a:alphaModFix/>
          </a:blip>
          <a:srcRect b="0" l="0" r="0" t="0"/>
          <a:stretch/>
        </p:blipFill>
        <p:spPr>
          <a:xfrm>
            <a:off x="558994" y="257175"/>
            <a:ext cx="10872172" cy="1114398"/>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9"/>
          <p:cNvSpPr txBox="1"/>
          <p:nvPr>
            <p:ph type="title"/>
          </p:nvPr>
        </p:nvSpPr>
        <p:spPr>
          <a:xfrm>
            <a:off x="838200" y="145894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Conclusion	</a:t>
            </a:r>
            <a:endParaRPr/>
          </a:p>
        </p:txBody>
      </p:sp>
      <p:sp>
        <p:nvSpPr>
          <p:cNvPr id="267" name="Google Shape;267;p19"/>
          <p:cNvSpPr txBox="1"/>
          <p:nvPr>
            <p:ph idx="1" type="body"/>
          </p:nvPr>
        </p:nvSpPr>
        <p:spPr>
          <a:xfrm>
            <a:off x="838200" y="2486025"/>
            <a:ext cx="10515600" cy="214800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800"/>
              <a:buNone/>
            </a:pPr>
            <a:r>
              <a:rPr lang="en-IN" sz="1800">
                <a:latin typeface="Times New Roman"/>
                <a:ea typeface="Times New Roman"/>
                <a:cs typeface="Times New Roman"/>
                <a:sym typeface="Times New Roman"/>
              </a:rPr>
              <a:t>The E-Waste Facility Locator is an essential tool for promoting responsible e-waste disposal by providing users with easy access to nearby recycling facilities, educational resources, and incentives for proper recycling. By raising awareness of the environmental and health risks of improper e-waste disposal and encouraging active participation through a rewards system, the platform empowers individuals to make informed decisions. With its user-friendly design and community engagement features, this platform contributes to a cleaner, healthier planet while fostering a culture of sustainability. </a:t>
            </a:r>
            <a:endParaRPr sz="1800">
              <a:latin typeface="Times New Roman"/>
              <a:ea typeface="Times New Roman"/>
              <a:cs typeface="Times New Roman"/>
              <a:sym typeface="Times New Roman"/>
            </a:endParaRPr>
          </a:p>
        </p:txBody>
      </p:sp>
      <p:sp>
        <p:nvSpPr>
          <p:cNvPr id="268" name="Google Shape;268;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69" name="Google Shape;269;p19"/>
          <p:cNvPicPr preferRelativeResize="0"/>
          <p:nvPr/>
        </p:nvPicPr>
        <p:blipFill rotWithShape="1">
          <a:blip r:embed="rId3">
            <a:alphaModFix/>
          </a:blip>
          <a:srcRect b="0" l="0" r="0" t="0"/>
          <a:stretch/>
        </p:blipFill>
        <p:spPr>
          <a:xfrm>
            <a:off x="558994" y="257175"/>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0"/>
          <p:cNvSpPr txBox="1"/>
          <p:nvPr>
            <p:ph type="title"/>
          </p:nvPr>
        </p:nvSpPr>
        <p:spPr>
          <a:xfrm>
            <a:off x="838200" y="203697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IN" sz="6400"/>
              <a:t>Thank You</a:t>
            </a:r>
            <a:endParaRPr sz="6400"/>
          </a:p>
        </p:txBody>
      </p:sp>
      <p:sp>
        <p:nvSpPr>
          <p:cNvPr id="275" name="Google Shape;275;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76" name="Google Shape;276;p20"/>
          <p:cNvPicPr preferRelativeResize="0"/>
          <p:nvPr/>
        </p:nvPicPr>
        <p:blipFill rotWithShape="1">
          <a:blip r:embed="rId3">
            <a:alphaModFix/>
          </a:blip>
          <a:srcRect b="0" l="0" r="0" t="0"/>
          <a:stretch/>
        </p:blipFill>
        <p:spPr>
          <a:xfrm>
            <a:off x="558994" y="257175"/>
            <a:ext cx="10871157" cy="1116446"/>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277" name="Google Shape;277;p20"/>
          <p:cNvSpPr txBox="1"/>
          <p:nvPr/>
        </p:nvSpPr>
        <p:spPr>
          <a:xfrm>
            <a:off x="7583000" y="5545175"/>
            <a:ext cx="3847200" cy="71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dk1"/>
                </a:solidFill>
                <a:latin typeface="Calibri"/>
                <a:ea typeface="Calibri"/>
                <a:cs typeface="Calibri"/>
                <a:sym typeface="Calibri"/>
              </a:rPr>
              <a:t>       -Team Lagaan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